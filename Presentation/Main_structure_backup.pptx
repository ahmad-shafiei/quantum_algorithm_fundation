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60" r:id="rId7"/>
    <p:sldId id="266" r:id="rId8"/>
    <p:sldId id="259" r:id="rId9"/>
    <p:sldId id="261" r:id="rId10"/>
    <p:sldId id="267" r:id="rId11"/>
    <p:sldId id="262" r:id="rId12"/>
    <p:sldId id="265" r:id="rId13"/>
    <p:sldId id="268" r:id="rId14"/>
    <p:sldId id="264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5A7A6-0DE6-A999-6676-9DA6780B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7AB2C-6627-6926-E53F-6540E3EA9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ADDA7-2807-AF92-33D8-B2F5EF10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BA07-3713-A0B8-CDC6-8B900809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580FE-ED58-225B-72FA-4C7AEED84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4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2FA1-E298-5900-3424-38C523CB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E6811-2E4C-8DEF-8D36-1CBC67DA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8F7B6-CD10-0110-6F9C-DCFF8EBA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190C5-329A-38D4-6978-70EF2CD9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01BD5-4B2A-1AA1-2F96-ECB7AC68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E3CE-8124-5311-379D-86B6E86A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F2697-ABF4-FD19-5800-FC53F1E3A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BC825-AC90-51CF-3478-48747B1A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2512-9E4A-A930-3C97-7CE5D2E9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C387-0039-9440-0816-631E9844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0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7D74-3DBC-270D-ED4E-84B48AB7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DF738-E4D4-AC7B-8A3F-9F988172D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57CFB-CF10-7A8F-D10E-1C95AC722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DBCE4-DBE5-A287-E512-5B3074D5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5B0C1-0DCE-6199-90AF-D677F9DC5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2F21D-F139-3B06-465A-AEDB41BD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D897-08F3-CA40-6B36-4E2BC884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89D39-821C-3B81-A921-66833C299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F2BB4-8132-7EBB-E283-2F20E553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ADA7A-AB6C-37B0-B88B-938F8E775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0D062-A601-97B9-C518-3CA7E1D39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B9EE9-F281-B3B0-2908-974AC406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5BCE5-8E6B-010B-57F7-E6B95EDD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35441-1CC4-E95A-C7C1-0C9FEBF7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7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B3F2-0113-8215-7066-0D36C83E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557BD-FA39-856F-2121-D84F7439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6AFBA-1901-287C-29E0-8A7B3C8F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12B86-57B2-024D-5F8E-CAED0AC9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64BA14-01AA-0DE0-05C9-17EA2D80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70CA6-200A-9ED1-5C90-6A73F164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ED629-4FA7-1287-82B0-DA6CBDBB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5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385F-1656-72CF-80BA-62CBCE6B4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425D-9289-1ECD-598D-9965D453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BD0F9-6304-C972-E49A-BF896484D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E153E-203C-0B03-C292-77E72A67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F45E-731F-47F8-04EF-20EBC2A0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F8ADD-9D3A-4B23-F574-95BC6A06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3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3886-B72F-1C71-4B96-4355B26D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F5391-7B47-8917-5DAE-F239E3EEE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438AD-5C69-DD7D-E8EF-DBB01592D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2019A-4295-D09F-A1B4-619DAE31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25391-DB95-9189-E487-8C662091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46A8B-FD87-406F-2CE0-E70C50D3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6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BC6E-BED8-E3E0-9E26-80EC31D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C6F35-9478-5728-0BFB-73978ED1E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498EF-39EE-6853-6EAA-696D99A1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BB995-1A42-E07D-2320-473F47E2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A33E8-2535-8101-A409-3DDD971B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9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BAD64F-75DE-B6A1-CB3C-B34C711F3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1DC7F-0DFF-9427-D030-584FCBBFB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879E-9272-132F-4ECE-66E7F9E4F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11CF9-22AE-95A0-45BF-3421DE842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E482E-48EA-5A5A-8468-1BBBD6F6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5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CFAA7-D609-41FB-6300-30DE7840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E0C7B-6A58-898A-7208-9DD1371F8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816E-E0AE-E6DA-4DE9-A432D2975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7CA8D-7759-4184-AF8C-A3C77124F79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7BAA7-81D6-3C31-C738-5BB858C44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3ABF-CA4F-89F1-7804-13F6EF86C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7EBDF-1F8A-4B1C-B15A-81B8638C1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4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7F78-8664-900D-5A9C-741C9B2D8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Quantum Simulation: Adiabatic Hamiltonian</a:t>
            </a:r>
          </a:p>
        </p:txBody>
      </p:sp>
    </p:spTree>
    <p:extLst>
      <p:ext uri="{BB962C8B-B14F-4D97-AF65-F5344CB8AC3E}">
        <p14:creationId xmlns:p14="http://schemas.microsoft.com/office/powerpoint/2010/main" val="2524132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BC92-2B85-4A9D-314C-753DE658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4AD6F-0CA3-F573-6BFA-843AEC9FA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46995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What is Hamiltonian(Examples)?</a:t>
            </a:r>
          </a:p>
          <a:p>
            <a:r>
              <a:rPr lang="en-US" dirty="0"/>
              <a:t>Problem Classes</a:t>
            </a:r>
          </a:p>
          <a:p>
            <a:r>
              <a:rPr lang="en-US" dirty="0"/>
              <a:t>Adiabatic Computation</a:t>
            </a:r>
          </a:p>
          <a:p>
            <a:r>
              <a:rPr lang="en-US" dirty="0"/>
              <a:t>Worked Example</a:t>
            </a:r>
          </a:p>
          <a:p>
            <a:r>
              <a:rPr lang="en-US" dirty="0" err="1"/>
              <a:t>Qiskit</a:t>
            </a:r>
            <a:r>
              <a:rPr lang="en-US" dirty="0"/>
              <a:t> implementation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Complexity</a:t>
            </a:r>
          </a:p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58796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E6DD-B465-5969-0C02-F131A13B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8AAB-B69F-6B53-FC5C-C10E4FF16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Model</a:t>
            </a:r>
          </a:p>
          <a:p>
            <a:r>
              <a:rPr lang="en-US" dirty="0"/>
              <a:t>Hamiltonian </a:t>
            </a:r>
          </a:p>
          <a:p>
            <a:r>
              <a:rPr lang="en-US" dirty="0"/>
              <a:t>The problem classes</a:t>
            </a:r>
          </a:p>
          <a:p>
            <a:r>
              <a:rPr lang="en-US" dirty="0"/>
              <a:t>Implementation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0655B9-4AC3-7315-F079-5B11EB224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412" y="1597260"/>
            <a:ext cx="5795388" cy="489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6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BD5B-1B2B-F799-0497-BBD0104C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Hamiltonian?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910F-7715-723B-91D4-378242AD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000" dirty="0"/>
              <a:t>در مکانیک تحلیلی وضعیت سیستم با مختصات تعمیم یافته مشخص می شود</a:t>
            </a:r>
          </a:p>
          <a:p>
            <a:pPr marL="0" indent="0" algn="r" rtl="1">
              <a:buNone/>
            </a:pPr>
            <a:r>
              <a:rPr lang="fa-IR" sz="2000" dirty="0" err="1"/>
              <a:t>لاگرانژی</a:t>
            </a:r>
            <a:r>
              <a:rPr lang="fa-IR" sz="2000" dirty="0"/>
              <a:t> را از انرژی جنبشی و پتانسیل می سازیم، </a:t>
            </a:r>
            <a:r>
              <a:rPr lang="fa-IR" sz="2000" dirty="0" err="1"/>
              <a:t>هامیلتونی</a:t>
            </a:r>
            <a:r>
              <a:rPr lang="fa-IR" sz="2000" dirty="0"/>
              <a:t> تبدیل </a:t>
            </a:r>
            <a:r>
              <a:rPr lang="fa-IR" sz="2000" dirty="0" err="1"/>
              <a:t>لژاندر</a:t>
            </a:r>
            <a:r>
              <a:rPr lang="fa-IR" sz="2000" dirty="0"/>
              <a:t> آن است. </a:t>
            </a:r>
          </a:p>
          <a:p>
            <a:pPr marL="0" indent="0">
              <a:buNone/>
            </a:pPr>
            <a:endParaRPr lang="en-US" sz="2000" dirty="0"/>
          </a:p>
          <a:p>
            <a:endParaRPr lang="fa-IR" dirty="0"/>
          </a:p>
          <a:p>
            <a:pPr algn="r" rtl="1"/>
            <a:r>
              <a:rPr lang="fa-IR" sz="2000" dirty="0"/>
              <a:t>در سامانه </a:t>
            </a:r>
            <a:r>
              <a:rPr lang="fa-IR" sz="2000" dirty="0" err="1"/>
              <a:t>پایستار</a:t>
            </a:r>
            <a:r>
              <a:rPr lang="fa-IR" sz="2000" dirty="0"/>
              <a:t> </a:t>
            </a:r>
            <a:r>
              <a:rPr lang="fa-IR" sz="2000" dirty="0" err="1"/>
              <a:t>هامیلتونی</a:t>
            </a:r>
            <a:r>
              <a:rPr lang="fa-IR" sz="2000" dirty="0"/>
              <a:t> همان انرژی کل سیستم است</a:t>
            </a:r>
          </a:p>
          <a:p>
            <a:endParaRPr lang="fa-IR" dirty="0"/>
          </a:p>
          <a:p>
            <a:endParaRPr lang="fa-IR" dirty="0"/>
          </a:p>
          <a:p>
            <a:pPr marL="0" indent="0">
              <a:buNone/>
            </a:pPr>
            <a:endParaRPr lang="en-US" dirty="0"/>
          </a:p>
          <a:p>
            <a:pPr algn="r" rtl="1"/>
            <a:r>
              <a:rPr lang="fa-IR" sz="1700" dirty="0"/>
              <a:t>انرژی روی فضای فاز </a:t>
            </a:r>
          </a:p>
          <a:p>
            <a:pPr algn="r" rtl="1"/>
            <a:r>
              <a:rPr lang="fa-IR" sz="1700" dirty="0"/>
              <a:t>مولد تحول زمانی</a:t>
            </a: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D7A16-04BD-3B66-BE71-AB6229E41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206" y="2799973"/>
            <a:ext cx="3457575" cy="590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4838E-F524-1F05-A9C8-FF553999A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599" y="4001294"/>
            <a:ext cx="24003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5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45DD-D705-330E-1E45-9CDB7965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Hamiltonian?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BADC-0858-40DA-479A-E225B6477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</a:t>
            </a:r>
            <a:endParaRPr lang="fa-IR" dirty="0"/>
          </a:p>
          <a:p>
            <a:r>
              <a:rPr lang="en-US" sz="2000" dirty="0"/>
              <a:t>Harmonic Oscillation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   Canonical quantization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LC Circuit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C37BE-CCBD-0EC5-7B85-29B54871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908" y="1496030"/>
            <a:ext cx="2276475" cy="53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8095E8-E872-523E-A9B2-058EDC4A3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263" y="2384575"/>
            <a:ext cx="971550" cy="333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71A6D7-961A-3C33-4BF1-0E4DFC866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872" y="2333701"/>
            <a:ext cx="1485900" cy="34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57DEC1-DAA3-6DAA-98B1-8E3731DE4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0062" y="3831448"/>
            <a:ext cx="2726554" cy="20621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A8325A-957B-7BE6-33EF-2D4CAFD141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1207" y="2898743"/>
            <a:ext cx="4049585" cy="11905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18CA3B-8CB1-5713-D0EA-67E32F1B6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813" y="5057788"/>
            <a:ext cx="2003764" cy="11191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B192D0-6E5E-31C0-5A32-C18F2DA5AA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263" y="5341150"/>
            <a:ext cx="1885950" cy="5524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91CC10-162E-64FF-73FA-65755B4054ED}"/>
              </a:ext>
            </a:extLst>
          </p:cNvPr>
          <p:cNvCxnSpPr/>
          <p:nvPr/>
        </p:nvCxnSpPr>
        <p:spPr>
          <a:xfrm>
            <a:off x="3271837" y="4358434"/>
            <a:ext cx="54049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06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7263-3866-3A0D-B425-7DF1626D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A0D5-B9F4-BCEE-91F9-48171214E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Dynamics or Statics?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2E4D1-7376-71DF-FD8F-B452D7ADA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733" y="2252342"/>
            <a:ext cx="7157039" cy="249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C213-AB81-F905-0EB4-212B09DD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Ground-state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D77E3-249C-D403-4453-1F82773B7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it is important</a:t>
            </a:r>
          </a:p>
          <a:p>
            <a:endParaRPr lang="en-US" dirty="0"/>
          </a:p>
          <a:p>
            <a:r>
              <a:rPr lang="en-US" sz="1800" dirty="0"/>
              <a:t>Computational challenge: Preparing the ground state of complex systems can be difficult.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encoding: The ground state of a properly designed Hamiltonian encodes the desired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D2BD-97E9-C6BE-C42F-2BE4EDA4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Adiabatic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A0F1-FEE6-5A5C-D38F-337D9B11E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Problem Scope: </a:t>
            </a:r>
          </a:p>
          <a:p>
            <a:endParaRPr lang="en-US" dirty="0"/>
          </a:p>
          <a:p>
            <a:r>
              <a:rPr lang="en-US" sz="2400" dirty="0"/>
              <a:t>Gaps, runtime and complexity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5E65B-CF0A-A796-7D08-74FE89F69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420" y="1550344"/>
            <a:ext cx="6588643" cy="469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552DF6-A81B-9A2F-202C-F3BE4E01B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214" y="2940684"/>
            <a:ext cx="5781586" cy="3379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021E3-3357-7CC5-5589-C3E1339A5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198" y="2078174"/>
            <a:ext cx="2853264" cy="650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04FA72-D3F4-FDC1-5923-EB890F271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876" y="5068212"/>
            <a:ext cx="1806331" cy="47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0A3A-CE7C-9C74-3A7C-B042F0A6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13609-7E52-B586-7B92-7F9D31982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Drive Hamiltonian : </a:t>
            </a:r>
            <a:r>
              <a:rPr lang="en-US" dirty="0" err="1"/>
              <a:t>H_b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Problem Hamiltonian: </a:t>
            </a:r>
            <a:r>
              <a:rPr lang="en-US" dirty="0" err="1"/>
              <a:t>H_p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88D3B-E839-1E03-D447-DD932C446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2702069"/>
            <a:ext cx="3933825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A4141-4FB6-69BD-2661-E6D41FC5C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438" y="4012689"/>
            <a:ext cx="5762625" cy="438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3B7C71-C73D-B714-484D-E6A7E9FA0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585" y="5101421"/>
            <a:ext cx="5062537" cy="1251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1D406A-2E7A-9C86-E294-3990249A9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854" y="1152827"/>
            <a:ext cx="2768306" cy="2243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12952C-228B-D83F-38E6-6F913CC34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495" y="5101421"/>
            <a:ext cx="3839332" cy="27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8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510A-6AA9-6B8B-42D8-2BC8D8A9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Adiabatic computation for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89AF9-AEEA-9C6F-796C-C5CBE82C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two spins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1F6900-AFBE-4D2C-AAAF-327CFA2F2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666" y="2114503"/>
            <a:ext cx="3009900" cy="39719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1B3122-D99A-7713-DBD1-E9A07D889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672" y="3474138"/>
            <a:ext cx="1360697" cy="776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409BD3-59EF-B39B-CEC9-D611F1C14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704" y="2151927"/>
            <a:ext cx="2371111" cy="268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024B68-E077-BE68-7C61-DF8B5F1B2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6814" y="1825625"/>
            <a:ext cx="996106" cy="921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78CA5C-E6FB-2C59-AF8D-5040ED231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558" y="3134127"/>
            <a:ext cx="2838541" cy="1857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62D22C-4FDF-A686-62C7-3E0CBDBEE4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6707" y="4605607"/>
            <a:ext cx="2838542" cy="30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93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C9D2-DB7A-EF6E-6380-5A1ED6D6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implementation for </a:t>
            </a:r>
            <a:r>
              <a:rPr lang="en-US" dirty="0" err="1"/>
              <a:t>Ising</a:t>
            </a:r>
            <a:r>
              <a:rPr lang="en-US" dirty="0"/>
              <a:t>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2BDB70-FD48-A0EE-277B-1AB0E4CB8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841147"/>
            <a:ext cx="7520420" cy="283367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D1F7B8-5706-674F-718F-32D6B6D33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6" y="1455162"/>
            <a:ext cx="5127550" cy="22024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2AC7AB-CD53-5D5B-2EA0-5D7F1AC1B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528" y="5078570"/>
            <a:ext cx="2833272" cy="231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29AEE-4657-27AC-64A1-E48CCE7AE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360" y="1287713"/>
            <a:ext cx="3965418" cy="253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3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D37A-98B9-ABEB-64A0-96729807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1C86C-C2EB-E9B5-81C1-EA8F88008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Linear Scheduling time: s(t)or nonlinear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EA785-545A-F6E1-03D4-7C237A3C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330" y="2541010"/>
            <a:ext cx="3371850" cy="3133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424078-A66E-1AE8-87CF-DFE5AB359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913" y="2646579"/>
            <a:ext cx="10191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61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2165-D8E0-5031-DC45-2F60F85B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Qiskit</a:t>
            </a:r>
            <a:r>
              <a:rPr lang="en-US" sz="3200" dirty="0"/>
              <a:t> implementation for </a:t>
            </a:r>
            <a:r>
              <a:rPr lang="en-US" sz="3200" dirty="0" err="1"/>
              <a:t>Ising</a:t>
            </a:r>
            <a:r>
              <a:rPr lang="en-US" sz="3200" dirty="0"/>
              <a:t>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34B46-F878-83C8-66CB-BC3BF80A7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114" y="1659470"/>
            <a:ext cx="4674870" cy="474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CA3CB-E8F1-E3E2-DD14-F547CB298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251" y="1364289"/>
            <a:ext cx="990600" cy="247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8282D9-C132-1423-2D3B-3BEA8E1B3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750" y="2130629"/>
            <a:ext cx="3438525" cy="333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B25E86-02ED-25F7-A9A9-95F6C68DC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252" y="3065067"/>
            <a:ext cx="3170268" cy="646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2185D2-326B-29E1-C0A6-9851C5954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163" y="4189445"/>
            <a:ext cx="4688845" cy="196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86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F420-D02E-D9D1-80C8-D06E12AF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250F81-CB35-A6E0-D08F-A1382C8BE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6237" y="4075730"/>
            <a:ext cx="3819525" cy="120967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3C1065-1822-F93F-8851-8FA4E3088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699" y="2309506"/>
            <a:ext cx="1831366" cy="139368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0D4E61-3A32-5D7D-355C-7C3749EDE54E}"/>
              </a:ext>
            </a:extLst>
          </p:cNvPr>
          <p:cNvCxnSpPr/>
          <p:nvPr/>
        </p:nvCxnSpPr>
        <p:spPr>
          <a:xfrm>
            <a:off x="3352800" y="3851653"/>
            <a:ext cx="52231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8174EB-073A-8276-3FA6-FF99B292B287}"/>
              </a:ext>
            </a:extLst>
          </p:cNvPr>
          <p:cNvSpPr txBox="1"/>
          <p:nvPr/>
        </p:nvSpPr>
        <p:spPr>
          <a:xfrm>
            <a:off x="965467" y="136436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Scaling size and complexity parameters</a:t>
            </a:r>
          </a:p>
        </p:txBody>
      </p:sp>
    </p:spTree>
    <p:extLst>
      <p:ext uri="{BB962C8B-B14F-4D97-AF65-F5344CB8AC3E}">
        <p14:creationId xmlns:p14="http://schemas.microsoft.com/office/powerpoint/2010/main" val="29321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BCF9-B143-5051-11E7-F9D60F18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FD76-C62E-659D-C71A-6A5B4AAEC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8221"/>
            <a:ext cx="10515600" cy="37687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CC239-DA59-CBC3-59F5-7E2BE422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8220"/>
            <a:ext cx="6497526" cy="1179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A248B5-254A-CDCC-082F-3D30BD89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15" y="3693266"/>
            <a:ext cx="3874021" cy="26301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EA5BDF-3DA4-F102-0AB8-288139A89151}"/>
              </a:ext>
            </a:extLst>
          </p:cNvPr>
          <p:cNvSpPr txBox="1"/>
          <p:nvPr/>
        </p:nvSpPr>
        <p:spPr>
          <a:xfrm>
            <a:off x="838200" y="185422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Scaling with System Size</a:t>
            </a:r>
          </a:p>
        </p:txBody>
      </p:sp>
    </p:spTree>
    <p:extLst>
      <p:ext uri="{BB962C8B-B14F-4D97-AF65-F5344CB8AC3E}">
        <p14:creationId xmlns:p14="http://schemas.microsoft.com/office/powerpoint/2010/main" val="131752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204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Quantum Simulation: Adiabatic Hamiltonian</vt:lpstr>
      <vt:lpstr>Contents</vt:lpstr>
      <vt:lpstr>Introduction</vt:lpstr>
      <vt:lpstr>What is Hamiltonian?</vt:lpstr>
      <vt:lpstr>What is Hamiltonian?</vt:lpstr>
      <vt:lpstr>Choose Question</vt:lpstr>
      <vt:lpstr>Ground-state problem</vt:lpstr>
      <vt:lpstr>Method: Adiabatic approach</vt:lpstr>
      <vt:lpstr>Example: Ising model</vt:lpstr>
      <vt:lpstr>Adiabatic computation for Ising model</vt:lpstr>
      <vt:lpstr>Qiskit implementation for Ising model</vt:lpstr>
      <vt:lpstr>Challenges</vt:lpstr>
      <vt:lpstr>Qiskit implementation for Ising model</vt:lpstr>
      <vt:lpstr>Complexity</vt:lpstr>
      <vt:lpstr>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Sh</dc:creator>
  <cp:lastModifiedBy>Ahmad Sh</cp:lastModifiedBy>
  <cp:revision>11</cp:revision>
  <dcterms:created xsi:type="dcterms:W3CDTF">2026-10-05T08:39:26Z</dcterms:created>
  <dcterms:modified xsi:type="dcterms:W3CDTF">2026-10-12T09:42:18Z</dcterms:modified>
</cp:coreProperties>
</file>