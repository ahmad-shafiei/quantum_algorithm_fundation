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9" r:id="rId5"/>
    <p:sldId id="271" r:id="rId6"/>
    <p:sldId id="270" r:id="rId7"/>
    <p:sldId id="273" r:id="rId8"/>
    <p:sldId id="274" r:id="rId9"/>
    <p:sldId id="260" r:id="rId10"/>
    <p:sldId id="266" r:id="rId11"/>
    <p:sldId id="259" r:id="rId12"/>
    <p:sldId id="279" r:id="rId13"/>
    <p:sldId id="275" r:id="rId14"/>
    <p:sldId id="261" r:id="rId15"/>
    <p:sldId id="267" r:id="rId16"/>
    <p:sldId id="262" r:id="rId17"/>
    <p:sldId id="265" r:id="rId18"/>
    <p:sldId id="268" r:id="rId19"/>
    <p:sldId id="263" r:id="rId20"/>
    <p:sldId id="277" r:id="rId21"/>
    <p:sldId id="278" r:id="rId22"/>
    <p:sldId id="27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FAE265-AF70-41C6-B8C3-623885C37987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AAA73-A1B6-4BD0-AE2B-2747D8493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066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DAAA73-A1B6-4BD0-AE2B-2747D84939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16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5A7A6-0DE6-A999-6676-9DA6780BFC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87AB2C-6627-6926-E53F-6540E3EA94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ADDA7-2807-AF92-33D8-B2F5EF107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ADBA07-3713-A0B8-CDC6-8B9008093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580FE-ED58-225B-72FA-4C7AEED84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141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82FA1-E298-5900-3424-38C523CBC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E6811-2E4C-8DEF-8D36-1CBC67DAC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8F7B6-CD10-0110-6F9C-DCFF8EBA0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190C5-329A-38D4-6978-70EF2CD98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501BD5-4B2A-1AA1-2F96-ECB7AC684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89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CE3CE-8124-5311-379D-86B6E86A1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F2697-ABF4-FD19-5800-FC53F1E3A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BC825-AC90-51CF-3478-48747B1A8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A2512-9E4A-A930-3C97-7CE5D2E9D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AC387-0039-9440-0816-631E9844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709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7D74-3DBC-270D-ED4E-84B48AB7F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DF738-E4D4-AC7B-8A3F-9F988172D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57CFB-CF10-7A8F-D10E-1C95AC7224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CDBCE4-DBE5-A287-E512-5B3074D5E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35B0C1-0DCE-6199-90AF-D677F9DC5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72F21D-F139-3B06-465A-AEDB41BDF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851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D897-08F3-CA40-6B36-4E2BC8847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89D39-821C-3B81-A921-66833C299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3F2BB4-8132-7EBB-E283-2F20E5539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EADA7A-AB6C-37B0-B88B-938F8E7757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50D062-A601-97B9-C518-3CA7E1D39C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FB9EE9-F281-B3B0-2908-974AC4068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BCE5-8E6B-010B-57F7-E6B95EDDF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E35441-1CC4-E95A-C7C1-0C9FEBF7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8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3B3F2-0113-8215-7066-0D36C83E1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6557BD-FA39-856F-2121-D84F7439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B6AFBA-1901-287C-29E0-8A7B3C8F6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712B86-57B2-024D-5F8E-CAED0AC9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64BA14-01AA-0DE0-05C9-17EA2D800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870CA6-200A-9ED1-5C90-6A73F164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D629-4FA7-1287-82B0-DA6CBDBB2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53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8385F-1656-72CF-80BA-62CBCE6B4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E425D-9289-1ECD-598D-9965D4532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EBD0F9-6304-C972-E49A-BF896484DC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5E153E-203C-0B03-C292-77E72A67B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C0F45E-731F-47F8-04EF-20EBC2A03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DF8ADD-9D3A-4B23-F574-95BC6A064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833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33886-B72F-1C71-4B96-4355B26DE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3F5391-7B47-8917-5DAE-F239E3EEEB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438AD-5C69-DD7D-E8EF-DBB01592D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2019A-4295-D09F-A1B4-619DAE31B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B25391-DB95-9189-E487-8C662091C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46A8B-FD87-406F-2CE0-E70C50D3E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664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6BC6E-BED8-E3E0-9E26-80EC31D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EC6F35-9478-5728-0BFB-73978ED1E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498EF-39EE-6853-6EAA-696D99A14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BB995-1A42-E07D-2320-473F47E2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A33E8-2535-8101-A409-3DDD971B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96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AD64F-75DE-B6A1-CB3C-B34C711F3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21DC7F-0DFF-9427-D030-584FCBBFB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C879E-9272-132F-4ECE-66E7F9E4F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11CF9-22AE-95A0-45BF-3421DE842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E482E-48EA-5A5A-8468-1BBBD6F6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255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FCFAA7-D609-41FB-6300-30DE7840D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E0C7B-6A58-898A-7208-9DD1371F8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C816E-E0AE-E6DA-4DE9-A432D29757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A7CA8D-7759-4184-AF8C-A3C77124F79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7BAA7-81D6-3C31-C738-5BB858C448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83ABF-CA4F-89F1-7804-13F6EF86C3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43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75.png"/><Relationship Id="rId7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7F78-8664-900D-5A9C-741C9B2D81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Quantum Simulation: Adiabatic Hamiltonian</a:t>
            </a:r>
          </a:p>
        </p:txBody>
      </p:sp>
    </p:spTree>
    <p:extLst>
      <p:ext uri="{BB962C8B-B14F-4D97-AF65-F5344CB8AC3E}">
        <p14:creationId xmlns:p14="http://schemas.microsoft.com/office/powerpoint/2010/main" val="2524132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BBC92-2B85-4A9D-314C-753DE658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AD6F-0CA3-F573-6BFA-843AEC9FA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46995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What is Hamiltonian(Examples)?</a:t>
            </a:r>
          </a:p>
          <a:p>
            <a:r>
              <a:rPr lang="en-US" dirty="0"/>
              <a:t>Problem Classes</a:t>
            </a:r>
          </a:p>
          <a:p>
            <a:r>
              <a:rPr lang="en-US" dirty="0"/>
              <a:t>Adiabatic Computation</a:t>
            </a:r>
          </a:p>
          <a:p>
            <a:r>
              <a:rPr lang="en-US" dirty="0"/>
              <a:t>Worked Example</a:t>
            </a:r>
          </a:p>
          <a:p>
            <a:r>
              <a:rPr lang="en-US" dirty="0" err="1"/>
              <a:t>Qiskit</a:t>
            </a:r>
            <a:r>
              <a:rPr lang="en-US" dirty="0"/>
              <a:t> implementation</a:t>
            </a:r>
          </a:p>
          <a:p>
            <a:r>
              <a:rPr lang="en-US" dirty="0"/>
              <a:t>Challenges</a:t>
            </a:r>
          </a:p>
          <a:p>
            <a:r>
              <a:rPr lang="en-US" dirty="0"/>
              <a:t>Complexity</a:t>
            </a:r>
          </a:p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587965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5E6DD-B465-5969-0C02-F131A13BF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78AAB-B69F-6B53-FC5C-C10E4FF16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Physical Model</a:t>
            </a:r>
          </a:p>
          <a:p>
            <a:r>
              <a:rPr lang="en-US" dirty="0"/>
              <a:t>Hamiltonian </a:t>
            </a:r>
          </a:p>
          <a:p>
            <a:r>
              <a:rPr lang="en-US" dirty="0"/>
              <a:t>The problem classes</a:t>
            </a:r>
          </a:p>
          <a:p>
            <a:r>
              <a:rPr lang="en-US" dirty="0"/>
              <a:t>Implementation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0655B9-4AC3-7315-F079-5B11EB224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412" y="1597260"/>
            <a:ext cx="5795388" cy="489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46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BBD5B-1B2B-F799-0497-BBD0104CA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4777"/>
          </a:xfrm>
        </p:spPr>
        <p:txBody>
          <a:bodyPr>
            <a:normAutofit/>
          </a:bodyPr>
          <a:lstStyle/>
          <a:p>
            <a:r>
              <a:rPr lang="en-US" sz="4000" dirty="0"/>
              <a:t>Hamiltonian: Classical Physics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F910F-7715-723B-91D4-378242AD9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2629"/>
            <a:ext cx="10515600" cy="5115208"/>
          </a:xfrm>
        </p:spPr>
        <p:txBody>
          <a:bodyPr>
            <a:normAutofit/>
          </a:bodyPr>
          <a:lstStyle/>
          <a:p>
            <a:pPr algn="r" rtl="1"/>
            <a:r>
              <a:rPr lang="fa-IR" sz="1900" dirty="0">
                <a:cs typeface="B Nazanin" panose="00000400000000000000" pitchFamily="2" charset="-78"/>
              </a:rPr>
              <a:t>مکانیک کلاسیک: </a:t>
            </a:r>
            <a:r>
              <a:rPr lang="fa-IR" sz="1900" dirty="0" err="1">
                <a:cs typeface="B Nazanin" panose="00000400000000000000" pitchFamily="2" charset="-78"/>
              </a:rPr>
              <a:t>نیوتون</a:t>
            </a:r>
            <a:r>
              <a:rPr lang="fa-IR" sz="1900" dirty="0">
                <a:cs typeface="B Nazanin" panose="00000400000000000000" pitchFamily="2" charset="-78"/>
              </a:rPr>
              <a:t>، </a:t>
            </a:r>
            <a:r>
              <a:rPr lang="fa-IR" sz="1900" dirty="0" err="1">
                <a:cs typeface="B Nazanin" panose="00000400000000000000" pitchFamily="2" charset="-78"/>
              </a:rPr>
              <a:t>لاگرانژ</a:t>
            </a:r>
            <a:r>
              <a:rPr lang="fa-IR" sz="1900" dirty="0">
                <a:cs typeface="B Nazanin" panose="00000400000000000000" pitchFamily="2" charset="-78"/>
              </a:rPr>
              <a:t> و </a:t>
            </a:r>
            <a:r>
              <a:rPr lang="fa-IR" sz="1900" dirty="0" err="1">
                <a:cs typeface="B Nazanin" panose="00000400000000000000" pitchFamily="2" charset="-78"/>
              </a:rPr>
              <a:t>هامیلتون</a:t>
            </a:r>
            <a:r>
              <a:rPr lang="fa-IR" sz="1900" dirty="0">
                <a:cs typeface="B Nazanin" panose="00000400000000000000" pitchFamily="2" charset="-78"/>
              </a:rPr>
              <a:t> </a:t>
            </a:r>
          </a:p>
          <a:p>
            <a:pPr algn="r" rtl="1"/>
            <a:r>
              <a:rPr lang="fa-IR" sz="1900" dirty="0" err="1">
                <a:cs typeface="B Nazanin" panose="00000400000000000000" pitchFamily="2" charset="-78"/>
              </a:rPr>
              <a:t>لاگرانژی</a:t>
            </a:r>
            <a:r>
              <a:rPr lang="fa-IR" sz="1900" dirty="0">
                <a:cs typeface="B Nazanin" panose="00000400000000000000" pitchFamily="2" charset="-78"/>
              </a:rPr>
              <a:t>:</a:t>
            </a:r>
          </a:p>
          <a:p>
            <a:pPr marL="0" indent="0" algn="r" rtl="1">
              <a:buNone/>
            </a:pPr>
            <a:r>
              <a:rPr lang="fa-IR" sz="2000" dirty="0">
                <a:cs typeface="B Nazanin" panose="00000400000000000000" pitchFamily="2" charset="-78"/>
              </a:rPr>
              <a:t> </a:t>
            </a:r>
          </a:p>
          <a:p>
            <a:pPr algn="r" rtl="1"/>
            <a:r>
              <a:rPr lang="fa-IR" sz="1900" dirty="0">
                <a:cs typeface="B Nazanin" panose="00000400000000000000" pitchFamily="2" charset="-78"/>
              </a:rPr>
              <a:t>معادله </a:t>
            </a:r>
            <a:r>
              <a:rPr lang="fa-IR" sz="1900" dirty="0" err="1">
                <a:cs typeface="B Nazanin" panose="00000400000000000000" pitchFamily="2" charset="-78"/>
              </a:rPr>
              <a:t>اویلر</a:t>
            </a:r>
            <a:r>
              <a:rPr lang="fa-IR" sz="1900" dirty="0">
                <a:cs typeface="B Nazanin" panose="00000400000000000000" pitchFamily="2" charset="-78"/>
              </a:rPr>
              <a:t>- </a:t>
            </a:r>
            <a:r>
              <a:rPr lang="fa-IR" sz="1900" dirty="0" err="1">
                <a:cs typeface="B Nazanin" panose="00000400000000000000" pitchFamily="2" charset="-78"/>
              </a:rPr>
              <a:t>لاگرانژ</a:t>
            </a:r>
            <a:r>
              <a:rPr lang="fa-IR" sz="1900" dirty="0">
                <a:cs typeface="B Nazanin" panose="00000400000000000000" pitchFamily="2" charset="-78"/>
              </a:rPr>
              <a:t>:</a:t>
            </a: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1900" dirty="0">
                <a:cs typeface="B Nazanin" panose="00000400000000000000" pitchFamily="2" charset="-78"/>
              </a:rPr>
              <a:t>تکانه کانونی و تبدیل </a:t>
            </a:r>
            <a:r>
              <a:rPr lang="fa-IR" sz="1900" dirty="0" err="1">
                <a:cs typeface="B Nazanin" panose="00000400000000000000" pitchFamily="2" charset="-78"/>
              </a:rPr>
              <a:t>لژاندر</a:t>
            </a:r>
            <a:endParaRPr lang="fa-IR" sz="1900" dirty="0">
              <a:cs typeface="B Nazanin" panose="00000400000000000000" pitchFamily="2" charset="-78"/>
            </a:endParaRPr>
          </a:p>
          <a:p>
            <a:pPr marL="0" indent="0">
              <a:buNone/>
            </a:pPr>
            <a:endParaRPr lang="en-US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1900" dirty="0" err="1">
                <a:cs typeface="B Nazanin" panose="00000400000000000000" pitchFamily="2" charset="-78"/>
              </a:rPr>
              <a:t>معادلات</a:t>
            </a:r>
            <a:r>
              <a:rPr lang="fa-IR" sz="1900" dirty="0">
                <a:cs typeface="B Nazanin" panose="00000400000000000000" pitchFamily="2" charset="-78"/>
              </a:rPr>
              <a:t> کانونی </a:t>
            </a:r>
            <a:r>
              <a:rPr lang="fa-IR" sz="1900" dirty="0" err="1">
                <a:cs typeface="B Nazanin" panose="00000400000000000000" pitchFamily="2" charset="-78"/>
              </a:rPr>
              <a:t>هامیلتون</a:t>
            </a:r>
            <a:endParaRPr lang="fa-IR" sz="1900" dirty="0">
              <a:cs typeface="B Nazanin" panose="00000400000000000000" pitchFamily="2" charset="-78"/>
            </a:endParaRPr>
          </a:p>
          <a:p>
            <a:pPr algn="r" rtl="1"/>
            <a:endParaRPr lang="fa-IR" sz="2300" dirty="0">
              <a:cs typeface="B Nazanin" panose="00000400000000000000" pitchFamily="2" charset="-78"/>
            </a:endParaRPr>
          </a:p>
          <a:p>
            <a:pPr algn="r" rtl="1"/>
            <a:r>
              <a:rPr lang="fa-IR" sz="1900" dirty="0">
                <a:cs typeface="B Nazanin" panose="00000400000000000000" pitchFamily="2" charset="-78"/>
              </a:rPr>
              <a:t>براکت </a:t>
            </a:r>
            <a:r>
              <a:rPr lang="fa-IR" sz="1900" dirty="0" err="1">
                <a:cs typeface="B Nazanin" panose="00000400000000000000" pitchFamily="2" charset="-78"/>
              </a:rPr>
              <a:t>پواسون</a:t>
            </a:r>
            <a:r>
              <a:rPr lang="fa-IR" sz="1900" dirty="0">
                <a:cs typeface="B Nazanin" panose="00000400000000000000" pitchFamily="2" charset="-78"/>
              </a:rPr>
              <a:t> برای جفت کانونی</a:t>
            </a:r>
          </a:p>
          <a:p>
            <a:pPr algn="r" rtl="1"/>
            <a:endParaRPr lang="fa-IR" sz="2300" dirty="0">
              <a:cs typeface="B Nazanin" panose="00000400000000000000" pitchFamily="2" charset="-78"/>
            </a:endParaRPr>
          </a:p>
          <a:p>
            <a:pPr algn="r" rtl="1"/>
            <a:r>
              <a:rPr lang="fa-IR" sz="1900" dirty="0">
                <a:cs typeface="B Nazanin" panose="00000400000000000000" pitchFamily="2" charset="-78"/>
              </a:rPr>
              <a:t>تحول زمانی و کمیت </a:t>
            </a:r>
            <a:r>
              <a:rPr lang="fa-IR" sz="1900" dirty="0" err="1">
                <a:cs typeface="B Nazanin" panose="00000400000000000000" pitchFamily="2" charset="-78"/>
              </a:rPr>
              <a:t>پایسته</a:t>
            </a:r>
            <a:r>
              <a:rPr lang="fa-IR" sz="1900" dirty="0">
                <a:cs typeface="B Nazanin" panose="00000400000000000000" pitchFamily="2" charset="-78"/>
              </a:rPr>
              <a:t> در مکانیک کلاسیک </a:t>
            </a:r>
          </a:p>
          <a:p>
            <a:pPr algn="r" rtl="1"/>
            <a:endParaRPr lang="fa-IR" dirty="0"/>
          </a:p>
          <a:p>
            <a:pPr marL="0" indent="0" algn="r" rtl="1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24838E-F524-1F05-A9C8-FF553999A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5219" y="3798518"/>
            <a:ext cx="1979692" cy="53420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410D04C-D472-C565-FCEC-BA39068D2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272" y="1611548"/>
            <a:ext cx="2114550" cy="342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19057A-97D5-5C65-0C7E-562C009B8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3272" y="2183183"/>
            <a:ext cx="1638300" cy="5524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4C1F2C-5199-BAB2-013D-1848CC719D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4083" y="2954654"/>
            <a:ext cx="3352800" cy="4762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FA39894-E08D-A30D-CC3B-22A2AE9543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9331" y="4516996"/>
            <a:ext cx="2219656" cy="5776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159609-319F-9782-91DF-54CDBF0ECD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2215" y="5448648"/>
            <a:ext cx="2837414" cy="9514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FF8E2FC-0040-EDDF-0B13-825A049D8B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3638" y="5193183"/>
            <a:ext cx="2514600" cy="101917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15A2551-47C7-6172-60B1-2F56307DAFC2}"/>
              </a:ext>
            </a:extLst>
          </p:cNvPr>
          <p:cNvSpPr txBox="1"/>
          <p:nvPr/>
        </p:nvSpPr>
        <p:spPr>
          <a:xfrm>
            <a:off x="418015" y="4771436"/>
            <a:ext cx="30419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800" dirty="0" err="1">
                <a:cs typeface="B Nazanin" panose="00000400000000000000" pitchFamily="2" charset="-78"/>
              </a:rPr>
              <a:t>هاملیتونی</a:t>
            </a:r>
            <a:r>
              <a:rPr lang="fa-IR" sz="1800" dirty="0">
                <a:cs typeface="B Nazanin" panose="00000400000000000000" pitchFamily="2" charset="-78"/>
              </a:rPr>
              <a:t> </a:t>
            </a:r>
            <a:r>
              <a:rPr lang="fa-IR" sz="1800" dirty="0" err="1">
                <a:cs typeface="B Nazanin" panose="00000400000000000000" pitchFamily="2" charset="-78"/>
              </a:rPr>
              <a:t>پایسته</a:t>
            </a:r>
            <a:r>
              <a:rPr lang="fa-IR" sz="1800" dirty="0">
                <a:cs typeface="B Nazanin" panose="00000400000000000000" pitchFamily="2" charset="-78"/>
              </a:rPr>
              <a:t> به طور خاص:</a:t>
            </a:r>
          </a:p>
          <a:p>
            <a:pPr algn="r" rtl="1"/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2A36239-DDC7-536A-6ADC-9357718CE54B}"/>
              </a:ext>
            </a:extLst>
          </p:cNvPr>
          <p:cNvCxnSpPr/>
          <p:nvPr/>
        </p:nvCxnSpPr>
        <p:spPr>
          <a:xfrm>
            <a:off x="3911097" y="4538898"/>
            <a:ext cx="0" cy="20739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0C0B49F-700E-3E01-6F5F-844953B2E1D9}"/>
              </a:ext>
            </a:extLst>
          </p:cNvPr>
          <p:cNvCxnSpPr/>
          <p:nvPr/>
        </p:nvCxnSpPr>
        <p:spPr>
          <a:xfrm flipH="1">
            <a:off x="2527473" y="3548779"/>
            <a:ext cx="5919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159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172B7-CDF5-F8FE-6402-97374FEBA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56269"/>
          </a:xfrm>
        </p:spPr>
        <p:txBody>
          <a:bodyPr/>
          <a:lstStyle/>
          <a:p>
            <a:r>
              <a:rPr lang="en-US" dirty="0"/>
              <a:t>Hamiltonian: Quantum Physics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9A8C9-27D2-A1D8-873F-A88DF0352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0570"/>
            <a:ext cx="10515600" cy="4556393"/>
          </a:xfrm>
        </p:spPr>
        <p:txBody>
          <a:bodyPr/>
          <a:lstStyle/>
          <a:p>
            <a:pPr algn="r" rtl="1"/>
            <a:r>
              <a:rPr lang="fa-IR" sz="1800" dirty="0">
                <a:cs typeface="B Nazanin" panose="00000400000000000000" pitchFamily="2" charset="-78"/>
              </a:rPr>
              <a:t>کلاسیک حالت با نقطه ای در فضای فاز، در </a:t>
            </a:r>
            <a:r>
              <a:rPr lang="fa-IR" sz="1800" dirty="0" err="1">
                <a:cs typeface="B Nazanin" panose="00000400000000000000" pitchFamily="2" charset="-78"/>
              </a:rPr>
              <a:t>کوانتوم</a:t>
            </a:r>
            <a:r>
              <a:rPr lang="fa-IR" sz="1800" dirty="0">
                <a:cs typeface="B Nazanin" panose="00000400000000000000" pitchFamily="2" charset="-78"/>
              </a:rPr>
              <a:t> با بردار نرمال شده در فضای </a:t>
            </a:r>
            <a:r>
              <a:rPr lang="fa-IR" sz="1800" dirty="0" err="1">
                <a:cs typeface="B Nazanin" panose="00000400000000000000" pitchFamily="2" charset="-78"/>
              </a:rPr>
              <a:t>هیلبرت</a:t>
            </a:r>
            <a:endParaRPr lang="fa-IR" sz="1800" dirty="0">
              <a:cs typeface="B Nazanin" panose="00000400000000000000" pitchFamily="2" charset="-78"/>
            </a:endParaRPr>
          </a:p>
          <a:p>
            <a:pPr algn="r" rtl="1"/>
            <a:r>
              <a:rPr lang="fa-IR" sz="1800" dirty="0" err="1">
                <a:cs typeface="B Nazanin" panose="00000400000000000000" pitchFamily="2" charset="-78"/>
              </a:rPr>
              <a:t>هامیلتونی</a:t>
            </a:r>
            <a:r>
              <a:rPr lang="fa-IR" sz="1800" dirty="0">
                <a:cs typeface="B Nazanin" panose="00000400000000000000" pitchFamily="2" charset="-78"/>
              </a:rPr>
              <a:t> به عنوان مولد تحول زمانی</a:t>
            </a:r>
          </a:p>
          <a:p>
            <a:pPr algn="r" rtl="1"/>
            <a:endParaRPr lang="fa-IR" sz="1800" dirty="0"/>
          </a:p>
          <a:p>
            <a:pPr algn="r" rtl="1"/>
            <a:endParaRPr lang="fa-IR" sz="1800" dirty="0"/>
          </a:p>
          <a:p>
            <a:pPr algn="r" rtl="1"/>
            <a:endParaRPr lang="fa-IR" sz="1800" dirty="0"/>
          </a:p>
          <a:p>
            <a:pPr algn="r" rtl="1"/>
            <a:endParaRPr lang="fa-IR" sz="1800" dirty="0"/>
          </a:p>
          <a:p>
            <a:pPr algn="r" rtl="1"/>
            <a:r>
              <a:rPr lang="fa-IR" sz="1800" dirty="0">
                <a:cs typeface="B Nazanin" panose="00000400000000000000" pitchFamily="2" charset="-78"/>
              </a:rPr>
              <a:t>شرط </a:t>
            </a:r>
            <a:r>
              <a:rPr lang="fa-IR" sz="1800" dirty="0" err="1">
                <a:cs typeface="B Nazanin" panose="00000400000000000000" pitchFamily="2" charset="-78"/>
              </a:rPr>
              <a:t>پایستگی</a:t>
            </a:r>
            <a:r>
              <a:rPr lang="fa-IR" sz="1800" dirty="0">
                <a:cs typeface="B Nazanin" panose="00000400000000000000" pitchFamily="2" charset="-78"/>
              </a:rPr>
              <a:t> در تحول </a:t>
            </a:r>
            <a:r>
              <a:rPr lang="fa-IR" sz="1800" dirty="0" err="1">
                <a:cs typeface="B Nazanin" panose="00000400000000000000" pitchFamily="2" charset="-78"/>
              </a:rPr>
              <a:t>یکانی</a:t>
            </a:r>
            <a:endParaRPr lang="fa-IR" sz="1800" dirty="0">
              <a:cs typeface="B Nazanin" panose="00000400000000000000" pitchFamily="2" charset="-78"/>
            </a:endParaRPr>
          </a:p>
          <a:p>
            <a:pPr algn="r" rtl="1"/>
            <a:endParaRPr lang="fa-IR" sz="1800" dirty="0"/>
          </a:p>
          <a:p>
            <a:pPr algn="r" rtl="1"/>
            <a:endParaRPr lang="fa-IR" sz="1800" dirty="0"/>
          </a:p>
          <a:p>
            <a:pPr marL="0" indent="0" algn="r" rtl="1">
              <a:buNone/>
            </a:pPr>
            <a:endParaRPr lang="fa-IR" sz="1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069F335-530C-4DCB-9034-31CF09F10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874" y="2390265"/>
            <a:ext cx="2326101" cy="12747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E3B71FB-D852-D07C-E0BD-C345D2EC5D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995" y="2566840"/>
            <a:ext cx="2571074" cy="88345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418AA7-3663-EB3F-B06C-B274E6E4AE95}"/>
              </a:ext>
            </a:extLst>
          </p:cNvPr>
          <p:cNvSpPr txBox="1"/>
          <p:nvPr/>
        </p:nvSpPr>
        <p:spPr>
          <a:xfrm>
            <a:off x="1965104" y="2076782"/>
            <a:ext cx="30419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800" dirty="0" err="1"/>
              <a:t>هاملیتونی</a:t>
            </a:r>
            <a:r>
              <a:rPr lang="fa-IR" sz="1800" dirty="0"/>
              <a:t> به عنوان </a:t>
            </a:r>
            <a:r>
              <a:rPr lang="fa-IR" sz="1800" dirty="0" err="1"/>
              <a:t>عملگر</a:t>
            </a:r>
            <a:r>
              <a:rPr lang="fa-IR" sz="1800" dirty="0"/>
              <a:t> انرژی</a:t>
            </a:r>
          </a:p>
          <a:p>
            <a:pPr algn="r" rtl="1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52D0871-691D-F536-760D-8E57D1493E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036" y="4987389"/>
            <a:ext cx="2219325" cy="127635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DEE88B-9434-6E91-ABB5-287BB7E01CD6}"/>
              </a:ext>
            </a:extLst>
          </p:cNvPr>
          <p:cNvCxnSpPr/>
          <p:nvPr/>
        </p:nvCxnSpPr>
        <p:spPr>
          <a:xfrm flipH="1">
            <a:off x="3558011" y="4010347"/>
            <a:ext cx="521479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D17DE49-0B22-0881-9789-510DA5567DFD}"/>
              </a:ext>
            </a:extLst>
          </p:cNvPr>
          <p:cNvCxnSpPr/>
          <p:nvPr/>
        </p:nvCxnSpPr>
        <p:spPr>
          <a:xfrm>
            <a:off x="6301212" y="2290527"/>
            <a:ext cx="0" cy="17107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528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C45DD-D705-330E-1E45-9CDB7965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8243"/>
          </a:xfrm>
        </p:spPr>
        <p:txBody>
          <a:bodyPr>
            <a:normAutofit/>
          </a:bodyPr>
          <a:lstStyle/>
          <a:p>
            <a:r>
              <a:rPr lang="en-US" sz="3600" dirty="0"/>
              <a:t>Example: Harmonic oscillator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6A8325A-957B-7BE6-33EF-2D4CAFD14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16" y="5575798"/>
            <a:ext cx="2468607" cy="72578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E91CC10-162E-64FF-73FA-65755B4054ED}"/>
              </a:ext>
            </a:extLst>
          </p:cNvPr>
          <p:cNvCxnSpPr/>
          <p:nvPr/>
        </p:nvCxnSpPr>
        <p:spPr>
          <a:xfrm>
            <a:off x="3132692" y="4663215"/>
            <a:ext cx="54049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A755B45-3BC3-EADC-F3E9-11998B6920FD}"/>
              </a:ext>
            </a:extLst>
          </p:cNvPr>
          <p:cNvSpPr txBox="1"/>
          <p:nvPr/>
        </p:nvSpPr>
        <p:spPr>
          <a:xfrm>
            <a:off x="6872474" y="1258402"/>
            <a:ext cx="42279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حالت کلاسیک- تقریب حرکت های کوچک حول نقطه تعادل پایدار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56B059-2381-6A38-71A1-264E6317FBF2}"/>
              </a:ext>
            </a:extLst>
          </p:cNvPr>
          <p:cNvSpPr txBox="1"/>
          <p:nvPr/>
        </p:nvSpPr>
        <p:spPr>
          <a:xfrm>
            <a:off x="9533299" y="1652233"/>
            <a:ext cx="15964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200" dirty="0">
                <a:cs typeface="B Nazanin" panose="00000400000000000000" pitchFamily="2" charset="-78"/>
              </a:rPr>
              <a:t>نیروی </a:t>
            </a:r>
            <a:r>
              <a:rPr lang="fa-IR" sz="1200" dirty="0" err="1">
                <a:cs typeface="B Nazanin" panose="00000400000000000000" pitchFamily="2" charset="-78"/>
              </a:rPr>
              <a:t>پایستار</a:t>
            </a:r>
            <a:r>
              <a:rPr lang="fa-IR" sz="1200" dirty="0">
                <a:cs typeface="B Nazanin" panose="00000400000000000000" pitchFamily="2" charset="-78"/>
              </a:rPr>
              <a:t>(یک </a:t>
            </a:r>
            <a:r>
              <a:rPr lang="fa-IR" sz="1200" dirty="0" err="1">
                <a:cs typeface="B Nazanin" panose="00000400000000000000" pitchFamily="2" charset="-78"/>
              </a:rPr>
              <a:t>بُعد</a:t>
            </a:r>
            <a:r>
              <a:rPr lang="fa-IR" sz="1200" dirty="0">
                <a:cs typeface="B Nazanin" panose="00000400000000000000" pitchFamily="2" charset="-78"/>
              </a:rPr>
              <a:t>)</a:t>
            </a:r>
            <a:endParaRPr lang="en-US" sz="1200" dirty="0">
              <a:cs typeface="B Nazanin" panose="00000400000000000000" pitchFamily="2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1F804E-B2F5-F0A1-DB9F-ECF484559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944" y="1952763"/>
            <a:ext cx="1019175" cy="4381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FAFE7B8-3E58-F4B0-C861-0856C90C6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0373" y="2800418"/>
            <a:ext cx="3187426" cy="28899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DC1B6F3-9881-C04C-A460-FF2E0BC8AD1A}"/>
              </a:ext>
            </a:extLst>
          </p:cNvPr>
          <p:cNvSpPr txBox="1"/>
          <p:nvPr/>
        </p:nvSpPr>
        <p:spPr>
          <a:xfrm>
            <a:off x="9258038" y="2638359"/>
            <a:ext cx="17005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600" dirty="0"/>
              <a:t>بسط </a:t>
            </a:r>
            <a:r>
              <a:rPr lang="fa-IR" sz="1600" dirty="0" err="1"/>
              <a:t>تیلور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A08141-6A2B-C1D9-A3C3-CCC4EBE6C3F2}"/>
              </a:ext>
            </a:extLst>
          </p:cNvPr>
          <p:cNvSpPr txBox="1"/>
          <p:nvPr/>
        </p:nvSpPr>
        <p:spPr>
          <a:xfrm>
            <a:off x="8943523" y="3378263"/>
            <a:ext cx="2329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برای یک کمینه پایدار با انحنای ثابت</a:t>
            </a:r>
            <a:endParaRPr lang="en-US" sz="1400" dirty="0">
              <a:cs typeface="B Nazanin" panose="00000400000000000000" pitchFamily="2" charset="-78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E73758A-1997-BC9B-AF24-1C8B41A0CB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2254" y="3123528"/>
            <a:ext cx="2702459" cy="52305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EABA137-05E8-D863-3C09-701240F2A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9203" y="3665410"/>
            <a:ext cx="1809750" cy="4286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E17E77B-AA9F-6CDF-8FBC-8A97808BE2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6045" y="3758596"/>
            <a:ext cx="914400" cy="209550"/>
          </a:xfrm>
          <a:prstGeom prst="rect">
            <a:avLst/>
          </a:prstGeom>
        </p:spPr>
      </p:pic>
      <p:sp>
        <p:nvSpPr>
          <p:cNvPr id="28" name="Arrow: Right 27">
            <a:extLst>
              <a:ext uri="{FF2B5EF4-FFF2-40B4-BE49-F238E27FC236}">
                <a16:creationId xmlns:a16="http://schemas.microsoft.com/office/drawing/2014/main" id="{C69F0443-A98D-FEC8-8001-A247394E01DC}"/>
              </a:ext>
            </a:extLst>
          </p:cNvPr>
          <p:cNvSpPr/>
          <p:nvPr/>
        </p:nvSpPr>
        <p:spPr>
          <a:xfrm>
            <a:off x="7557190" y="3844948"/>
            <a:ext cx="235551" cy="108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3A9CCD76-CC26-44E6-5164-5E7B581A33AD}"/>
              </a:ext>
            </a:extLst>
          </p:cNvPr>
          <p:cNvSpPr/>
          <p:nvPr/>
        </p:nvSpPr>
        <p:spPr>
          <a:xfrm>
            <a:off x="9048411" y="3839909"/>
            <a:ext cx="235551" cy="108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0D3CDBE-727C-5C4F-40C3-7BDA3000AD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1929" y="3745425"/>
            <a:ext cx="1524000" cy="2476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6AE4736-C791-79CA-F70A-BFB6BFF308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0662" y="4092074"/>
            <a:ext cx="1190625" cy="495300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DB17A94-5468-FEE7-9DC6-407E3D6F0BB2}"/>
              </a:ext>
            </a:extLst>
          </p:cNvPr>
          <p:cNvCxnSpPr/>
          <p:nvPr/>
        </p:nvCxnSpPr>
        <p:spPr>
          <a:xfrm>
            <a:off x="5113894" y="1543494"/>
            <a:ext cx="15914" cy="3110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95878E4-C8AF-5788-A4EE-547F6478C4B5}"/>
              </a:ext>
            </a:extLst>
          </p:cNvPr>
          <p:cNvSpPr txBox="1"/>
          <p:nvPr/>
        </p:nvSpPr>
        <p:spPr>
          <a:xfrm>
            <a:off x="1892293" y="1255022"/>
            <a:ext cx="32127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حالت </a:t>
            </a:r>
            <a:r>
              <a:rPr lang="fa-IR" sz="1400" dirty="0" err="1">
                <a:cs typeface="B Nazanin" panose="00000400000000000000" pitchFamily="2" charset="-78"/>
              </a:rPr>
              <a:t>کوانتومی</a:t>
            </a:r>
            <a:r>
              <a:rPr lang="fa-IR" sz="1400" dirty="0">
                <a:cs typeface="B Nazanin" panose="00000400000000000000" pitchFamily="2" charset="-78"/>
              </a:rPr>
              <a:t>- استفاده از اصل </a:t>
            </a:r>
            <a:r>
              <a:rPr lang="fa-IR" sz="1400" dirty="0" err="1">
                <a:cs typeface="B Nazanin" panose="00000400000000000000" pitchFamily="2" charset="-78"/>
              </a:rPr>
              <a:t>کوانتش</a:t>
            </a:r>
            <a:r>
              <a:rPr lang="fa-IR" sz="1400" dirty="0">
                <a:cs typeface="B Nazanin" panose="00000400000000000000" pitchFamily="2" charset="-78"/>
              </a:rPr>
              <a:t> کانونی</a:t>
            </a:r>
            <a:endParaRPr lang="en-US" sz="1400" dirty="0">
              <a:cs typeface="B Nazanin" panose="00000400000000000000" pitchFamily="2" charset="-78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FEA69F5-E336-6908-DB70-95C32E1E32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491" y="1543494"/>
            <a:ext cx="2023421" cy="240451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DB30562-9F7B-9B0A-6A24-712FC45AA9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8045" y="4037166"/>
            <a:ext cx="2828925" cy="542925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8250193B-C5BE-8271-D89C-859275B9557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02751" y="1332324"/>
            <a:ext cx="3434860" cy="149349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EE03566-AA65-5CEE-F199-9502FF88E3A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79103" y="4697896"/>
            <a:ext cx="4726034" cy="2071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065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C45DD-D705-330E-1E45-9CDB7965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8243"/>
          </a:xfrm>
        </p:spPr>
        <p:txBody>
          <a:bodyPr>
            <a:normAutofit/>
          </a:bodyPr>
          <a:lstStyle/>
          <a:p>
            <a:r>
              <a:rPr lang="en-US" sz="3600" dirty="0"/>
              <a:t>Example: LC Circuit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6A8325A-957B-7BE6-33EF-2D4CAFD14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16" y="5575798"/>
            <a:ext cx="2468607" cy="72578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E91CC10-162E-64FF-73FA-65755B4054ED}"/>
              </a:ext>
            </a:extLst>
          </p:cNvPr>
          <p:cNvCxnSpPr/>
          <p:nvPr/>
        </p:nvCxnSpPr>
        <p:spPr>
          <a:xfrm>
            <a:off x="3132692" y="4663215"/>
            <a:ext cx="54049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A755B45-3BC3-EADC-F3E9-11998B6920FD}"/>
              </a:ext>
            </a:extLst>
          </p:cNvPr>
          <p:cNvSpPr txBox="1"/>
          <p:nvPr/>
        </p:nvSpPr>
        <p:spPr>
          <a:xfrm>
            <a:off x="6872474" y="1258402"/>
            <a:ext cx="42279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حالت کلاسیک- تقریب حرکت های کوچک حول نقطه تعادل پایدار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56B059-2381-6A38-71A1-264E6317FBF2}"/>
              </a:ext>
            </a:extLst>
          </p:cNvPr>
          <p:cNvSpPr txBox="1"/>
          <p:nvPr/>
        </p:nvSpPr>
        <p:spPr>
          <a:xfrm>
            <a:off x="9533299" y="1652233"/>
            <a:ext cx="15964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200" dirty="0">
                <a:cs typeface="B Nazanin" panose="00000400000000000000" pitchFamily="2" charset="-78"/>
              </a:rPr>
              <a:t>نیروی </a:t>
            </a:r>
            <a:r>
              <a:rPr lang="fa-IR" sz="1200" dirty="0" err="1">
                <a:cs typeface="B Nazanin" panose="00000400000000000000" pitchFamily="2" charset="-78"/>
              </a:rPr>
              <a:t>پایستار</a:t>
            </a:r>
            <a:r>
              <a:rPr lang="fa-IR" sz="1200" dirty="0">
                <a:cs typeface="B Nazanin" panose="00000400000000000000" pitchFamily="2" charset="-78"/>
              </a:rPr>
              <a:t>(یک </a:t>
            </a:r>
            <a:r>
              <a:rPr lang="fa-IR" sz="1200" dirty="0" err="1">
                <a:cs typeface="B Nazanin" panose="00000400000000000000" pitchFamily="2" charset="-78"/>
              </a:rPr>
              <a:t>بُعد</a:t>
            </a:r>
            <a:r>
              <a:rPr lang="fa-IR" sz="1200" dirty="0">
                <a:cs typeface="B Nazanin" panose="00000400000000000000" pitchFamily="2" charset="-78"/>
              </a:rPr>
              <a:t>)</a:t>
            </a:r>
            <a:endParaRPr lang="en-US" sz="1200" dirty="0">
              <a:cs typeface="B Nazanin" panose="00000400000000000000" pitchFamily="2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1F804E-B2F5-F0A1-DB9F-ECF484559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944" y="1952763"/>
            <a:ext cx="1019175" cy="4381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FAFE7B8-3E58-F4B0-C861-0856C90C6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0373" y="2800418"/>
            <a:ext cx="3187426" cy="28899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DC1B6F3-9881-C04C-A460-FF2E0BC8AD1A}"/>
              </a:ext>
            </a:extLst>
          </p:cNvPr>
          <p:cNvSpPr txBox="1"/>
          <p:nvPr/>
        </p:nvSpPr>
        <p:spPr>
          <a:xfrm>
            <a:off x="9258038" y="2638359"/>
            <a:ext cx="17005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600" dirty="0"/>
              <a:t>بسط </a:t>
            </a:r>
            <a:r>
              <a:rPr lang="fa-IR" sz="1600" dirty="0" err="1"/>
              <a:t>تیلور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A08141-6A2B-C1D9-A3C3-CCC4EBE6C3F2}"/>
              </a:ext>
            </a:extLst>
          </p:cNvPr>
          <p:cNvSpPr txBox="1"/>
          <p:nvPr/>
        </p:nvSpPr>
        <p:spPr>
          <a:xfrm>
            <a:off x="8943523" y="3378263"/>
            <a:ext cx="2329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برای یک کمینه پایدار با انحنای ثابت</a:t>
            </a:r>
            <a:endParaRPr lang="en-US" sz="1400" dirty="0">
              <a:cs typeface="B Nazanin" panose="00000400000000000000" pitchFamily="2" charset="-78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E73758A-1997-BC9B-AF24-1C8B41A0CB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2254" y="3123528"/>
            <a:ext cx="2702459" cy="52305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EABA137-05E8-D863-3C09-701240F2A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9203" y="3665410"/>
            <a:ext cx="1809750" cy="4286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E17E77B-AA9F-6CDF-8FBC-8A97808BE2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6045" y="3758596"/>
            <a:ext cx="914400" cy="209550"/>
          </a:xfrm>
          <a:prstGeom prst="rect">
            <a:avLst/>
          </a:prstGeom>
        </p:spPr>
      </p:pic>
      <p:sp>
        <p:nvSpPr>
          <p:cNvPr id="28" name="Arrow: Right 27">
            <a:extLst>
              <a:ext uri="{FF2B5EF4-FFF2-40B4-BE49-F238E27FC236}">
                <a16:creationId xmlns:a16="http://schemas.microsoft.com/office/drawing/2014/main" id="{C69F0443-A98D-FEC8-8001-A247394E01DC}"/>
              </a:ext>
            </a:extLst>
          </p:cNvPr>
          <p:cNvSpPr/>
          <p:nvPr/>
        </p:nvSpPr>
        <p:spPr>
          <a:xfrm>
            <a:off x="7557190" y="3844948"/>
            <a:ext cx="235551" cy="108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3A9CCD76-CC26-44E6-5164-5E7B581A33AD}"/>
              </a:ext>
            </a:extLst>
          </p:cNvPr>
          <p:cNvSpPr/>
          <p:nvPr/>
        </p:nvSpPr>
        <p:spPr>
          <a:xfrm>
            <a:off x="9048411" y="3839909"/>
            <a:ext cx="235551" cy="108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0D3CDBE-727C-5C4F-40C3-7BDA3000AD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1929" y="3745425"/>
            <a:ext cx="1524000" cy="2476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6AE4736-C791-79CA-F70A-BFB6BFF308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0662" y="4092074"/>
            <a:ext cx="1190625" cy="495300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DB17A94-5468-FEE7-9DC6-407E3D6F0BB2}"/>
              </a:ext>
            </a:extLst>
          </p:cNvPr>
          <p:cNvCxnSpPr/>
          <p:nvPr/>
        </p:nvCxnSpPr>
        <p:spPr>
          <a:xfrm>
            <a:off x="5113894" y="1543494"/>
            <a:ext cx="15914" cy="3110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95878E4-C8AF-5788-A4EE-547F6478C4B5}"/>
              </a:ext>
            </a:extLst>
          </p:cNvPr>
          <p:cNvSpPr txBox="1"/>
          <p:nvPr/>
        </p:nvSpPr>
        <p:spPr>
          <a:xfrm>
            <a:off x="1892293" y="1255022"/>
            <a:ext cx="32127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حالت </a:t>
            </a:r>
            <a:r>
              <a:rPr lang="fa-IR" sz="1400" dirty="0" err="1">
                <a:cs typeface="B Nazanin" panose="00000400000000000000" pitchFamily="2" charset="-78"/>
              </a:rPr>
              <a:t>کوانتومی</a:t>
            </a:r>
            <a:r>
              <a:rPr lang="fa-IR" sz="1400" dirty="0">
                <a:cs typeface="B Nazanin" panose="00000400000000000000" pitchFamily="2" charset="-78"/>
              </a:rPr>
              <a:t>- استفاده از اصل </a:t>
            </a:r>
            <a:r>
              <a:rPr lang="fa-IR" sz="1400" dirty="0" err="1">
                <a:cs typeface="B Nazanin" panose="00000400000000000000" pitchFamily="2" charset="-78"/>
              </a:rPr>
              <a:t>کوانتش</a:t>
            </a:r>
            <a:r>
              <a:rPr lang="fa-IR" sz="1400" dirty="0">
                <a:cs typeface="B Nazanin" panose="00000400000000000000" pitchFamily="2" charset="-78"/>
              </a:rPr>
              <a:t> کانونی</a:t>
            </a:r>
            <a:endParaRPr lang="en-US" sz="1400" dirty="0">
              <a:cs typeface="B Nazanin" panose="00000400000000000000" pitchFamily="2" charset="-78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FEA69F5-E336-6908-DB70-95C32E1E32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491" y="1543494"/>
            <a:ext cx="2023421" cy="240451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DB30562-9F7B-9B0A-6A24-712FC45AA9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8045" y="4037166"/>
            <a:ext cx="2828925" cy="54292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EE03566-AA65-5CEE-F199-9502FF88E3A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9103" y="4697896"/>
            <a:ext cx="4726034" cy="2071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2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C45DD-D705-330E-1E45-9CDB7965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5" y="338159"/>
            <a:ext cx="10515600" cy="928243"/>
          </a:xfrm>
        </p:spPr>
        <p:txBody>
          <a:bodyPr>
            <a:normAutofit/>
          </a:bodyPr>
          <a:lstStyle/>
          <a:p>
            <a:r>
              <a:rPr lang="en-US" sz="3600" dirty="0"/>
              <a:t>Example: Harmonic oscillator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E91CC10-162E-64FF-73FA-65755B4054ED}"/>
              </a:ext>
            </a:extLst>
          </p:cNvPr>
          <p:cNvCxnSpPr/>
          <p:nvPr/>
        </p:nvCxnSpPr>
        <p:spPr>
          <a:xfrm>
            <a:off x="5612887" y="5363032"/>
            <a:ext cx="54049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A755B45-3BC3-EADC-F3E9-11998B6920FD}"/>
              </a:ext>
            </a:extLst>
          </p:cNvPr>
          <p:cNvSpPr txBox="1"/>
          <p:nvPr/>
        </p:nvSpPr>
        <p:spPr>
          <a:xfrm>
            <a:off x="9975495" y="906118"/>
            <a:ext cx="11344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حالت کلاسیک</a:t>
            </a:r>
            <a:endParaRPr lang="en-US" sz="1400" dirty="0">
              <a:cs typeface="B Nazanin" panose="00000400000000000000" pitchFamily="2" charset="-78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DB17A94-5468-FEE7-9DC6-407E3D6F0BB2}"/>
              </a:ext>
            </a:extLst>
          </p:cNvPr>
          <p:cNvCxnSpPr/>
          <p:nvPr/>
        </p:nvCxnSpPr>
        <p:spPr>
          <a:xfrm>
            <a:off x="5243747" y="1776639"/>
            <a:ext cx="15914" cy="3110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95878E4-C8AF-5788-A4EE-547F6478C4B5}"/>
              </a:ext>
            </a:extLst>
          </p:cNvPr>
          <p:cNvSpPr txBox="1"/>
          <p:nvPr/>
        </p:nvSpPr>
        <p:spPr>
          <a:xfrm>
            <a:off x="1892293" y="1255022"/>
            <a:ext cx="32127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حالت </a:t>
            </a:r>
            <a:r>
              <a:rPr lang="fa-IR" sz="1400" dirty="0" err="1">
                <a:cs typeface="B Nazanin" panose="00000400000000000000" pitchFamily="2" charset="-78"/>
              </a:rPr>
              <a:t>کوانتومی</a:t>
            </a:r>
            <a:r>
              <a:rPr lang="fa-IR" sz="1400" dirty="0">
                <a:cs typeface="B Nazanin" panose="00000400000000000000" pitchFamily="2" charset="-78"/>
              </a:rPr>
              <a:t>- استفاده از اصل </a:t>
            </a:r>
            <a:r>
              <a:rPr lang="fa-IR" sz="1400" dirty="0" err="1">
                <a:cs typeface="B Nazanin" panose="00000400000000000000" pitchFamily="2" charset="-78"/>
              </a:rPr>
              <a:t>کوانتش</a:t>
            </a:r>
            <a:r>
              <a:rPr lang="fa-IR" sz="1400" dirty="0">
                <a:cs typeface="B Nazanin" panose="00000400000000000000" pitchFamily="2" charset="-78"/>
              </a:rPr>
              <a:t> کانونی</a:t>
            </a:r>
            <a:endParaRPr lang="en-US" sz="1400" dirty="0">
              <a:cs typeface="B Nazanin" panose="00000400000000000000" pitchFamily="2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03E96E-EBF5-6242-C416-8D086B7EA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651" y="983192"/>
            <a:ext cx="1914853" cy="164147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87D9762-DACF-602D-0E5E-81AD2C642AC1}"/>
              </a:ext>
            </a:extLst>
          </p:cNvPr>
          <p:cNvGrpSpPr/>
          <p:nvPr/>
        </p:nvGrpSpPr>
        <p:grpSpPr>
          <a:xfrm>
            <a:off x="7261504" y="1252862"/>
            <a:ext cx="3953883" cy="760537"/>
            <a:chOff x="7563483" y="1448743"/>
            <a:chExt cx="3953883" cy="76053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1B90E16-7EC4-BF2D-F3A0-CF871A29E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3483" y="1735761"/>
              <a:ext cx="3953883" cy="473519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75A065A-1764-241E-7277-5BEA8F3C4817}"/>
                </a:ext>
              </a:extLst>
            </p:cNvPr>
            <p:cNvSpPr txBox="1"/>
            <p:nvPr/>
          </p:nvSpPr>
          <p:spPr>
            <a:xfrm>
              <a:off x="8164713" y="1477818"/>
              <a:ext cx="5359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a-IR" sz="1400" dirty="0">
                  <a:cs typeface="B Nazanin" panose="00000400000000000000" pitchFamily="2" charset="-78"/>
                </a:rPr>
                <a:t>خازن</a:t>
              </a:r>
              <a:endParaRPr lang="en-US" sz="1400" dirty="0">
                <a:cs typeface="B Nazanin" panose="00000400000000000000" pitchFamily="2" charset="-78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45E610-9A48-55A4-6DDC-C5BB7DDD2E1B}"/>
                </a:ext>
              </a:extLst>
            </p:cNvPr>
            <p:cNvSpPr txBox="1"/>
            <p:nvPr/>
          </p:nvSpPr>
          <p:spPr>
            <a:xfrm>
              <a:off x="10193929" y="1448743"/>
              <a:ext cx="5359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a-IR" sz="1400" dirty="0" err="1">
                  <a:cs typeface="B Nazanin" panose="00000400000000000000" pitchFamily="2" charset="-78"/>
                </a:rPr>
                <a:t>القاگر</a:t>
              </a:r>
              <a:endParaRPr lang="en-US" sz="1400" dirty="0">
                <a:cs typeface="B Nazanin" panose="00000400000000000000" pitchFamily="2" charset="-78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FE0A34ED-FDE5-F2EE-EF74-E188B240A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1928" y="2130844"/>
            <a:ext cx="1752699" cy="31021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9582B4-07AC-ABA2-E153-5D81BF8AF5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5615" y="2421261"/>
            <a:ext cx="1718913" cy="3623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91085A1-84F7-BF49-1CD7-A733B34424F9}"/>
              </a:ext>
            </a:extLst>
          </p:cNvPr>
          <p:cNvSpPr txBox="1"/>
          <p:nvPr/>
        </p:nvSpPr>
        <p:spPr>
          <a:xfrm>
            <a:off x="6301642" y="2773433"/>
            <a:ext cx="4913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dirty="0">
                <a:cs typeface="B Nazanin" panose="00000400000000000000" pitchFamily="2" charset="-78"/>
              </a:rPr>
              <a:t>انتگرال زمانی ولتاژ به عنوان شار گره ای - بار خازن به عنوان تکانه کانونی هم </a:t>
            </a:r>
            <a:r>
              <a:rPr lang="fa-IR" sz="1400" dirty="0" err="1">
                <a:cs typeface="B Nazanin" panose="00000400000000000000" pitchFamily="2" charset="-78"/>
              </a:rPr>
              <a:t>یوغ</a:t>
            </a:r>
            <a:r>
              <a:rPr lang="fa-IR" sz="1400" dirty="0">
                <a:cs typeface="B Nazanin" panose="00000400000000000000" pitchFamily="2" charset="-78"/>
              </a:rPr>
              <a:t> آن</a:t>
            </a:r>
            <a:endParaRPr lang="en-US" sz="1400" dirty="0">
              <a:cs typeface="B Nazanin" panose="00000400000000000000" pitchFamily="2" charset="-78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F035C6C-9817-08B4-3DE1-BA91FA011E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3375" y="3201090"/>
            <a:ext cx="4144517" cy="191476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C7BCCE8-AFC8-0037-19B6-9A9172E94E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3365" y="1606639"/>
            <a:ext cx="2220859" cy="92084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358153DE-FD03-F28E-275B-B9EB300E051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46113" y="2584795"/>
            <a:ext cx="1474670" cy="162548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AA9EA30-6E6E-2A50-98C0-38AD7083D3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134" y="4694148"/>
            <a:ext cx="4152900" cy="111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729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7263-3866-3A0D-B425-7DF1626DC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7A0D5-B9F4-BCEE-91F9-48171214E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2807" y="2755611"/>
            <a:ext cx="2390869" cy="361950"/>
          </a:xfrm>
        </p:spPr>
        <p:txBody>
          <a:bodyPr>
            <a:normAutofit fontScale="92500" lnSpcReduction="20000"/>
          </a:bodyPr>
          <a:lstStyle/>
          <a:p>
            <a:pPr marL="0" indent="0" algn="r" rtl="1">
              <a:buNone/>
            </a:pPr>
            <a:r>
              <a:rPr lang="fa-IR" sz="2400" dirty="0" err="1">
                <a:cs typeface="B Nazanin" panose="00000400000000000000" pitchFamily="2" charset="-78"/>
              </a:rPr>
              <a:t>دینامیک</a:t>
            </a:r>
            <a:r>
              <a:rPr lang="fa-IR" sz="2400" dirty="0">
                <a:cs typeface="B Nazanin" panose="00000400000000000000" pitchFamily="2" charset="-78"/>
              </a:rPr>
              <a:t> یا </a:t>
            </a:r>
            <a:r>
              <a:rPr lang="fa-IR" sz="2400" dirty="0" err="1">
                <a:cs typeface="B Nazanin" panose="00000400000000000000" pitchFamily="2" charset="-78"/>
              </a:rPr>
              <a:t>استاتیک</a:t>
            </a:r>
            <a:r>
              <a:rPr lang="fa-IR" sz="2400" dirty="0">
                <a:cs typeface="B Nazanin" panose="00000400000000000000" pitchFamily="2" charset="-78"/>
              </a:rPr>
              <a:t>؟</a:t>
            </a:r>
            <a:endParaRPr lang="en-US" sz="2400" dirty="0">
              <a:cs typeface="B Nazanin" panose="000004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D2E4D1-7376-71DF-FD8F-B452D7ADA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355" y="3679557"/>
            <a:ext cx="7157039" cy="24974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4A9844-0631-6546-CFB1-0118FC361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01" y="1807436"/>
            <a:ext cx="2914650" cy="3619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1F473-CBAB-32CC-6E88-FA8A69F123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901" y="2533650"/>
            <a:ext cx="2981325" cy="89535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D026930-FDBF-C2CD-7676-25519F79AC0F}"/>
              </a:ext>
            </a:extLst>
          </p:cNvPr>
          <p:cNvCxnSpPr/>
          <p:nvPr/>
        </p:nvCxnSpPr>
        <p:spPr>
          <a:xfrm>
            <a:off x="3648364" y="3565236"/>
            <a:ext cx="567112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4148F36-F4A5-C337-84C9-E007E547A6E3}"/>
              </a:ext>
            </a:extLst>
          </p:cNvPr>
          <p:cNvSpPr txBox="1"/>
          <p:nvPr/>
        </p:nvSpPr>
        <p:spPr>
          <a:xfrm>
            <a:off x="5558828" y="1240325"/>
            <a:ext cx="5794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چگونه از حالتی که </a:t>
            </a:r>
            <a:r>
              <a:rPr lang="fa-IR" b="1" dirty="0" err="1">
                <a:cs typeface="B Nazanin" panose="00000400000000000000" pitchFamily="2" charset="-78"/>
              </a:rPr>
              <a:t>ساختنش</a:t>
            </a:r>
            <a:r>
              <a:rPr lang="fa-IR" b="1" dirty="0">
                <a:cs typeface="B Nazanin" panose="00000400000000000000" pitchFamily="2" charset="-78"/>
              </a:rPr>
              <a:t> آسان است به حالت پایه مسئله برویم؟</a:t>
            </a:r>
            <a:endParaRPr lang="en-US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7806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DC213-AB81-F905-0EB4-212B09DD1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Ground-state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D77E3-249C-D403-4453-1F82773B7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اهمیت؟</a:t>
            </a:r>
          </a:p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شبیه سازی فیزیکی: </a:t>
            </a:r>
            <a:r>
              <a:rPr lang="fa-IR" dirty="0" err="1">
                <a:cs typeface="B Nazanin" panose="00000400000000000000" pitchFamily="2" charset="-78"/>
              </a:rPr>
              <a:t>هامیلتونی</a:t>
            </a:r>
            <a:r>
              <a:rPr lang="fa-IR" dirty="0">
                <a:cs typeface="B Nazanin" panose="00000400000000000000" pitchFamily="2" charset="-78"/>
              </a:rPr>
              <a:t> نماینده فیزیک مورد نظر</a:t>
            </a:r>
          </a:p>
          <a:p>
            <a:pPr algn="r" rtl="1"/>
            <a:endParaRPr lang="fa-IR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r>
              <a:rPr lang="fa-IR" dirty="0">
                <a:cs typeface="B Nazanin" panose="00000400000000000000" pitchFamily="2" charset="-78"/>
              </a:rPr>
              <a:t> برای مثال یک مدل مغناطیسی </a:t>
            </a:r>
            <a:r>
              <a:rPr lang="fa-IR" dirty="0">
                <a:cs typeface="B Nazanin" panose="00000400000000000000" pitchFamily="2" charset="-78"/>
                <a:sym typeface="Wingdings" panose="05000000000000000000" pitchFamily="2" charset="2"/>
              </a:rPr>
              <a:t> </a:t>
            </a:r>
            <a:r>
              <a:rPr lang="fa-IR" dirty="0" err="1">
                <a:cs typeface="B Nazanin" panose="00000400000000000000" pitchFamily="2" charset="-78"/>
                <a:sym typeface="Wingdings" panose="05000000000000000000" pitchFamily="2" charset="2"/>
              </a:rPr>
              <a:t>مغناطش</a:t>
            </a:r>
            <a:endParaRPr lang="fa-IR" dirty="0">
              <a:cs typeface="B Nazanin" panose="00000400000000000000" pitchFamily="2" charset="-78"/>
              <a:sym typeface="Wingdings" panose="05000000000000000000" pitchFamily="2" charset="2"/>
            </a:endParaRPr>
          </a:p>
          <a:p>
            <a:pPr marL="0" indent="0" algn="r" rtl="1">
              <a:buNone/>
            </a:pPr>
            <a:endParaRPr lang="fa-IR" dirty="0">
              <a:cs typeface="B Nazanin" panose="00000400000000000000" pitchFamily="2" charset="-78"/>
              <a:sym typeface="Wingdings" panose="05000000000000000000" pitchFamily="2" charset="2"/>
            </a:endParaRPr>
          </a:p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 بهینه سازی: ‌طراحی تابع هزینه در قالب </a:t>
            </a:r>
            <a:r>
              <a:rPr lang="fa-IR" dirty="0" err="1">
                <a:cs typeface="B Nazanin" panose="00000400000000000000" pitchFamily="2" charset="-78"/>
              </a:rPr>
              <a:t>هامیلتونی</a:t>
            </a:r>
            <a:endParaRPr lang="en-US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r>
              <a:rPr lang="fa-IR" dirty="0">
                <a:cs typeface="B Nazanin" panose="00000400000000000000" pitchFamily="2" charset="-78"/>
              </a:rPr>
              <a:t> طراحی بعضی مسایل </a:t>
            </a:r>
            <a:r>
              <a:rPr lang="fa-IR" dirty="0" err="1">
                <a:cs typeface="B Nazanin" panose="00000400000000000000" pitchFamily="2" charset="-78"/>
              </a:rPr>
              <a:t>محاسباتی</a:t>
            </a:r>
            <a:r>
              <a:rPr lang="fa-IR" dirty="0">
                <a:cs typeface="B Nazanin" panose="00000400000000000000" pitchFamily="2" charset="-78"/>
              </a:rPr>
              <a:t> </a:t>
            </a:r>
            <a:r>
              <a:rPr lang="fa-IR" dirty="0">
                <a:cs typeface="B Nazanin" panose="00000400000000000000" pitchFamily="2" charset="-78"/>
                <a:sym typeface="Wingdings" panose="05000000000000000000" pitchFamily="2" charset="2"/>
              </a:rPr>
              <a:t> پاسخ مطلوب = کمترین انرژی ترین حالت </a:t>
            </a:r>
          </a:p>
          <a:p>
            <a:pPr marL="0" indent="0" algn="r" rtl="1">
              <a:buNone/>
            </a:pPr>
            <a:endParaRPr lang="fa-IR" dirty="0">
              <a:cs typeface="B Nazanin" panose="00000400000000000000" pitchFamily="2" charset="-78"/>
              <a:sym typeface="Wingdings" panose="05000000000000000000" pitchFamily="2" charset="2"/>
            </a:endParaRPr>
          </a:p>
          <a:p>
            <a:pPr marL="0" indent="0" algn="r" rtl="1">
              <a:buNone/>
            </a:pP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82BEEF-CBD1-7BEF-A0BD-50A1D758888F}"/>
              </a:ext>
            </a:extLst>
          </p:cNvPr>
          <p:cNvSpPr/>
          <p:nvPr/>
        </p:nvSpPr>
        <p:spPr>
          <a:xfrm>
            <a:off x="3025363" y="2195627"/>
            <a:ext cx="6446067" cy="769545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CD0BA9-FFB3-8764-1A99-1EBBB18EDC54}"/>
              </a:ext>
            </a:extLst>
          </p:cNvPr>
          <p:cNvSpPr/>
          <p:nvPr/>
        </p:nvSpPr>
        <p:spPr>
          <a:xfrm>
            <a:off x="3025364" y="4185204"/>
            <a:ext cx="6446067" cy="769545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661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AD2BD-97E9-C6BE-C42F-2BE4EDA42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Method: Adiabatic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1A0F1-FEE6-5A5C-D38F-337D9B11E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0036" y="5052563"/>
            <a:ext cx="4380345" cy="1543160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/>
              <a:t>Gaps, runtime and complexity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552DF6-A81B-9A2F-202C-F3BE4E01B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703" y="2243745"/>
            <a:ext cx="4562476" cy="266705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5F2F576-F505-1021-EBB5-75D61899DEE8}"/>
              </a:ext>
            </a:extLst>
          </p:cNvPr>
          <p:cNvGrpSpPr/>
          <p:nvPr/>
        </p:nvGrpSpPr>
        <p:grpSpPr>
          <a:xfrm>
            <a:off x="2142326" y="1593511"/>
            <a:ext cx="7840715" cy="650234"/>
            <a:chOff x="2142326" y="1593511"/>
            <a:chExt cx="7840715" cy="65023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35E65B-CF0A-A796-7D08-74FE89F69E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42326" y="1728051"/>
              <a:ext cx="4619579" cy="3293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70021E3-3357-7CC5-5589-C3E1339A5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29777" y="1593511"/>
              <a:ext cx="2853264" cy="650234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2E4A31F6-4399-BF6C-AED5-AE7DF2179A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772" y="2691134"/>
            <a:ext cx="4115085" cy="11340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9F1E34-342C-83C5-BD5E-3C1A43EC9C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620" y="4200146"/>
            <a:ext cx="3453390" cy="129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11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A3BD88-A3CC-100D-01C8-B1CD9717DD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559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10A3A-CE7C-9C74-3A7C-B042F0A6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Ising</a:t>
            </a:r>
            <a:r>
              <a:rPr lang="en-US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13609-7E52-B586-7B92-7F9D31982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Problem Hamiltonian: </a:t>
            </a:r>
            <a:r>
              <a:rPr lang="en-US" sz="1800" dirty="0" err="1"/>
              <a:t>H_p</a:t>
            </a:r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A4141-4FB6-69BD-2661-E6D41FC5C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383" y="2979815"/>
            <a:ext cx="4116833" cy="3130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894DEB-C2E6-B46C-0D3F-39BCBAE6D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201" y="1161924"/>
            <a:ext cx="2301599" cy="23015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D1E237-E791-E674-6B61-1259CEAE1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063" y="930023"/>
            <a:ext cx="1885950" cy="2762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975D6C7-E74A-F0BF-86C2-63DAB648E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664834"/>
            <a:ext cx="1924050" cy="942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931223-DDA9-CA97-5434-C2BDEDF4A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4696" y="4203957"/>
            <a:ext cx="3298328" cy="484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73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10A3A-CE7C-9C74-3A7C-B042F0A6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Ising</a:t>
            </a:r>
            <a:r>
              <a:rPr lang="en-US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13609-7E52-B586-7B92-7F9D31982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Drive Hamiltonian : </a:t>
            </a:r>
            <a:r>
              <a:rPr lang="en-US" sz="2000" dirty="0" err="1"/>
              <a:t>H_b</a:t>
            </a:r>
            <a:endParaRPr lang="en-US" sz="2000" dirty="0"/>
          </a:p>
          <a:p>
            <a:endParaRPr lang="en-US" dirty="0"/>
          </a:p>
          <a:p>
            <a:endParaRPr lang="fa-IR" dirty="0"/>
          </a:p>
          <a:p>
            <a:endParaRPr lang="fa-IR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188D3B-E839-1E03-D447-DD932C446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677" y="2316363"/>
            <a:ext cx="2742334" cy="29880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FCC81A4-937F-0019-E067-82885CEC9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5082" y="2007845"/>
            <a:ext cx="2971818" cy="4979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6DD6E36-3AA1-6EA2-C361-913C48748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5293" y="2901054"/>
            <a:ext cx="2495550" cy="4572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186BDB8-7753-FA33-0869-86F983AC0A40}"/>
              </a:ext>
            </a:extLst>
          </p:cNvPr>
          <p:cNvSpPr txBox="1"/>
          <p:nvPr/>
        </p:nvSpPr>
        <p:spPr>
          <a:xfrm>
            <a:off x="5303892" y="3012845"/>
            <a:ext cx="79210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a-IR" sz="1050" dirty="0">
                <a:cs typeface="B Nazanin" panose="00000400000000000000" pitchFamily="2" charset="-78"/>
              </a:rPr>
              <a:t>حالات ویژه</a:t>
            </a:r>
            <a:endParaRPr lang="en-US" sz="1050" dirty="0">
              <a:cs typeface="B Nazanin" panose="00000400000000000000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8B5D17-7F4B-EC00-CD5D-B17F4EB233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7195" y="2724546"/>
            <a:ext cx="1405095" cy="8017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BFA2D3-BCCD-C848-4B1C-89E201E107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9956" y="3839797"/>
            <a:ext cx="4228153" cy="120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8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510A-6AA9-6B8B-42D8-2BC8D8A9D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Adiabatic computation for </a:t>
            </a:r>
            <a:r>
              <a:rPr lang="en-US" dirty="0" err="1"/>
              <a:t>Ising</a:t>
            </a:r>
            <a:r>
              <a:rPr lang="en-US" dirty="0"/>
              <a:t>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1F6900-AFBE-4D2C-AAAF-327CFA2F2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03" y="2063435"/>
            <a:ext cx="3009900" cy="39719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698A6A9-6277-B8B6-4693-ECA7444EF08A}"/>
              </a:ext>
            </a:extLst>
          </p:cNvPr>
          <p:cNvGrpSpPr/>
          <p:nvPr/>
        </p:nvGrpSpPr>
        <p:grpSpPr>
          <a:xfrm>
            <a:off x="6907525" y="2783015"/>
            <a:ext cx="3925216" cy="921567"/>
            <a:chOff x="7540543" y="2024319"/>
            <a:chExt cx="3925216" cy="92156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7409BD3-59EF-B39B-CEC9-D611F1C143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40543" y="2350621"/>
              <a:ext cx="2371111" cy="26896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9024B68-E077-BE68-7C61-DF8B5F1B2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69653" y="2024319"/>
              <a:ext cx="996106" cy="921567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C6889A1-0E07-771D-AA41-204CC7D55677}"/>
              </a:ext>
            </a:extLst>
          </p:cNvPr>
          <p:cNvGrpSpPr/>
          <p:nvPr/>
        </p:nvGrpSpPr>
        <p:grpSpPr>
          <a:xfrm>
            <a:off x="6889845" y="4267207"/>
            <a:ext cx="4556401" cy="776707"/>
            <a:chOff x="7151968" y="3474138"/>
            <a:chExt cx="4556401" cy="77670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61B3122-D99A-7713-DBD1-E9A07D889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47672" y="3474138"/>
              <a:ext cx="1360697" cy="77670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378CA5C-E6FB-2C59-AF8D-5040ED231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51968" y="3719658"/>
              <a:ext cx="2838541" cy="185753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3C29B2B-B47E-5CC1-4820-EA4F78E51770}"/>
              </a:ext>
            </a:extLst>
          </p:cNvPr>
          <p:cNvSpPr txBox="1"/>
          <p:nvPr/>
        </p:nvSpPr>
        <p:spPr>
          <a:xfrm>
            <a:off x="6518494" y="1835800"/>
            <a:ext cx="5063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dirty="0">
                <a:cs typeface="B Nazanin" panose="00000400000000000000" pitchFamily="2" charset="-78"/>
              </a:rPr>
              <a:t>از حالت پایه</a:t>
            </a:r>
            <a:r>
              <a:rPr lang="fa-IR" dirty="0">
                <a:cs typeface="B Nazanin" panose="00000400000000000000" pitchFamily="2" charset="-78"/>
              </a:rPr>
              <a:t> </a:t>
            </a:r>
            <a:r>
              <a:rPr lang="ar-SA" dirty="0">
                <a:cs typeface="B Nazanin" panose="00000400000000000000" pitchFamily="2" charset="-78"/>
              </a:rPr>
              <a:t>معلوم </a:t>
            </a:r>
            <a:r>
              <a:rPr lang="en-US" dirty="0">
                <a:cs typeface="B Nazanin" panose="00000400000000000000" pitchFamily="2" charset="-78"/>
              </a:rPr>
              <a:t> </a:t>
            </a:r>
            <a:r>
              <a:rPr lang="ar-SA" dirty="0">
                <a:cs typeface="B Nazanin" panose="00000400000000000000" pitchFamily="2" charset="-78"/>
              </a:rPr>
              <a:t>شروع می‌کنیم و هامیلتونی را به‌آرامی تغییر می‌دهیم تا، با برقراری شرایط بی‌دررو، به حالت هدف</a:t>
            </a:r>
            <a:r>
              <a:rPr lang="en-US" dirty="0">
                <a:cs typeface="B Nazanin" panose="00000400000000000000" pitchFamily="2" charset="-78"/>
              </a:rPr>
              <a:t> </a:t>
            </a:r>
            <a:r>
              <a:rPr lang="ar-SA" dirty="0">
                <a:cs typeface="B Nazanin" panose="00000400000000000000" pitchFamily="2" charset="-78"/>
              </a:rPr>
              <a:t>نزدیک شویم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1A5E39-955F-10B5-860A-86A85E26E24F}"/>
              </a:ext>
            </a:extLst>
          </p:cNvPr>
          <p:cNvSpPr txBox="1"/>
          <p:nvPr/>
        </p:nvSpPr>
        <p:spPr>
          <a:xfrm>
            <a:off x="10085550" y="5613149"/>
            <a:ext cx="1268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چقدر آهسته؟</a:t>
            </a:r>
            <a:endParaRPr lang="en-US" dirty="0">
              <a:cs typeface="B Nazanin" panose="00000400000000000000" pitchFamily="2" charset="-78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04FA72-D3F4-FDC1-5923-EB890F271B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593" y="5597538"/>
            <a:ext cx="1152247" cy="3054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1B30A26-5E4F-78F5-6E34-0E75A6B203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4372" y="5982481"/>
            <a:ext cx="2312751" cy="66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293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BC9D2-DB7A-EF6E-6380-5A1ED6D62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implementation for </a:t>
            </a:r>
            <a:r>
              <a:rPr lang="en-US" dirty="0" err="1"/>
              <a:t>Ising</a:t>
            </a:r>
            <a:r>
              <a:rPr lang="en-US" dirty="0"/>
              <a:t> model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32BDB70-FD48-A0EE-277B-1AB0E4CB8C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841147"/>
            <a:ext cx="7520420" cy="2833670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D1F7B8-5706-674F-718F-32D6B6D33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546" y="1455162"/>
            <a:ext cx="5127550" cy="22024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2AC7AB-CD53-5D5B-2EA0-5D7F1AC1B8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528" y="5078570"/>
            <a:ext cx="2833272" cy="2316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F29AEE-4657-27AC-64A1-E48CCE7AEA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360" y="1287713"/>
            <a:ext cx="3965418" cy="2537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332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D37A-98B9-ABEB-64A0-967298078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1C86C-C2EB-E9B5-81C1-EA8F88008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Linear Scheduling time: s(t)or nonlinear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FEA785-545A-F6E1-03D4-7C237A3CB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043" y="2846392"/>
            <a:ext cx="3371850" cy="31337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424078-A66E-1AE8-87CF-DFE5AB359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913" y="2646579"/>
            <a:ext cx="1019175" cy="571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A57D03-EF72-4C36-6E2C-60186E850BEE}"/>
              </a:ext>
            </a:extLst>
          </p:cNvPr>
          <p:cNvSpPr txBox="1"/>
          <p:nvPr/>
        </p:nvSpPr>
        <p:spPr>
          <a:xfrm>
            <a:off x="7161291" y="2280214"/>
            <a:ext cx="4499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زمانبندی: از هر قسمت با چه سرعتی پیش می رویم؟</a:t>
            </a:r>
            <a:endParaRPr lang="en-US" dirty="0">
              <a:cs typeface="B Nazanin" panose="00000400000000000000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98969A-187C-4482-D3F0-5391860A1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75" y="5233657"/>
            <a:ext cx="28194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6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C2165-D8E0-5031-DC45-2F60F85B9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2438"/>
          </a:xfrm>
        </p:spPr>
        <p:txBody>
          <a:bodyPr>
            <a:normAutofit/>
          </a:bodyPr>
          <a:lstStyle/>
          <a:p>
            <a:r>
              <a:rPr lang="en-US" sz="3200" dirty="0" err="1"/>
              <a:t>Qiskit</a:t>
            </a:r>
            <a:r>
              <a:rPr lang="en-US" sz="3200" dirty="0"/>
              <a:t> implementation for </a:t>
            </a:r>
            <a:r>
              <a:rPr lang="en-US" sz="3200" dirty="0" err="1"/>
              <a:t>Ising</a:t>
            </a:r>
            <a:r>
              <a:rPr lang="en-US" sz="3200" dirty="0"/>
              <a:t>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934B46-F878-83C8-66CB-BC3BF80A7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5863" y="1745213"/>
            <a:ext cx="4674870" cy="47476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CCA3CB-E8F1-E3E2-DD14-F547CB298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5251" y="1364289"/>
            <a:ext cx="990600" cy="2476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8282D9-C132-1423-2D3B-3BEA8E1B3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148" y="2540034"/>
            <a:ext cx="3438525" cy="3333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B25E86-02ED-25F7-A9A9-95F6C68DC9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267" y="5441836"/>
            <a:ext cx="3170268" cy="6468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62185D2-326B-29E1-C0A6-9851C5954E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293" y="3052782"/>
            <a:ext cx="4688845" cy="19650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19E5D5-DC5C-EF02-F669-C503E871B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609" y="1459129"/>
            <a:ext cx="4770529" cy="8462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8A5C35-7895-1352-48DA-55F82FE356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0521" y="6296908"/>
            <a:ext cx="1993249" cy="391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86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5BCF9-B143-5051-11E7-F9D60F18D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3CC239-DA59-CBC3-59F5-7E2BE422F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72" y="4305303"/>
            <a:ext cx="5622940" cy="10207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A248B5-254A-CDCC-082F-3D30BD89B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924" y="2990210"/>
            <a:ext cx="3874021" cy="263018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EA5BDF-3DA4-F102-0AB8-288139A89151}"/>
              </a:ext>
            </a:extLst>
          </p:cNvPr>
          <p:cNvSpPr txBox="1"/>
          <p:nvPr/>
        </p:nvSpPr>
        <p:spPr>
          <a:xfrm>
            <a:off x="838200" y="1854222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Scaling with System Size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3482E8-E7AC-71AD-3C23-74FD46038629}"/>
              </a:ext>
            </a:extLst>
          </p:cNvPr>
          <p:cNvSpPr txBox="1"/>
          <p:nvPr/>
        </p:nvSpPr>
        <p:spPr>
          <a:xfrm>
            <a:off x="7070756" y="1854222"/>
            <a:ext cx="375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dirty="0">
                <a:cs typeface="B Nazanin" panose="00000400000000000000" pitchFamily="2" charset="-78"/>
              </a:rPr>
              <a:t>با افزایش تعداد اسپین‌ها چه اتفاقی می‌افتد؟</a:t>
            </a:r>
            <a:endParaRPr lang="en-US" dirty="0">
              <a:cs typeface="B Nazanin" panose="00000400000000000000" pitchFamily="2" charset="-78"/>
            </a:endParaRP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C408E52C-6EAE-1CF4-8883-14CA9A6C4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4984" y="2582066"/>
            <a:ext cx="2910101" cy="921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5254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6352C-FF29-C089-318D-10D42825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1370" y="365125"/>
            <a:ext cx="3332430" cy="1325563"/>
          </a:xfrm>
        </p:spPr>
        <p:txBody>
          <a:bodyPr/>
          <a:lstStyle/>
          <a:p>
            <a:pPr algn="r" rtl="1"/>
            <a:r>
              <a:rPr lang="fa-IR" dirty="0"/>
              <a:t>سئوال پژوهشی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F37DF3-6A5F-2266-8EBE-433EC529BD37}"/>
              </a:ext>
            </a:extLst>
          </p:cNvPr>
          <p:cNvSpPr txBox="1"/>
          <p:nvPr/>
        </p:nvSpPr>
        <p:spPr>
          <a:xfrm>
            <a:off x="2743199" y="3307770"/>
            <a:ext cx="63464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dirty="0">
                <a:cs typeface="B Nazanin" panose="00000400000000000000" pitchFamily="2" charset="-78"/>
              </a:rPr>
              <a:t>برای یک مدل مشخص، آیا می‌توان با شناخت گاف و تنظیم سرعت تغییر، در زمان کمتر به همان احتمال موفقیت رسید؟ هزینه به‌دست‌آوردن این شناخت چقدر است؟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745006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8526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10A3A-CE7C-9C74-3A7C-B042F0A62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344501" cy="1325563"/>
          </a:xfrm>
        </p:spPr>
        <p:txBody>
          <a:bodyPr/>
          <a:lstStyle/>
          <a:p>
            <a:r>
              <a:rPr lang="en-US" dirty="0"/>
              <a:t>BACKUP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13609-7E52-B586-7B92-7F9D31982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Problem Hamiltonian: </a:t>
            </a:r>
            <a:r>
              <a:rPr lang="en-US" sz="1800" dirty="0" err="1"/>
              <a:t>H_p</a:t>
            </a:r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A4141-4FB6-69BD-2661-E6D41FC5C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383" y="2979815"/>
            <a:ext cx="4116833" cy="3130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3B7C71-C73D-B714-484D-E6A7E9FA0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173" y="5636168"/>
            <a:ext cx="4376169" cy="10815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B12952C-228B-D83F-38E6-6F913CC34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6065777"/>
            <a:ext cx="3839332" cy="2946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894DEB-C2E6-B46C-0D3F-39BCBAE6D0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201" y="1161924"/>
            <a:ext cx="2301599" cy="23015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D1E237-E791-E674-6B61-1259CEAE13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063" y="930023"/>
            <a:ext cx="1885950" cy="2762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975D6C7-E74A-F0BF-86C2-63DAB648E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2664834"/>
            <a:ext cx="1924050" cy="942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931223-DDA9-CA97-5434-C2BDEDF4A0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96" y="4203957"/>
            <a:ext cx="3298328" cy="484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386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2390</TotalTime>
  <Words>435</Words>
  <Application>Microsoft Office PowerPoint</Application>
  <PresentationFormat>Widescreen</PresentationFormat>
  <Paragraphs>95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B Nazanin</vt:lpstr>
      <vt:lpstr>Office Theme</vt:lpstr>
      <vt:lpstr>Quantum Simulation: Adiabatic Hamiltonian</vt:lpstr>
      <vt:lpstr>Contents</vt:lpstr>
      <vt:lpstr>Introduction</vt:lpstr>
      <vt:lpstr>Hamiltonian: Classical Physics</vt:lpstr>
      <vt:lpstr>Hamiltonian: Quantum Physics</vt:lpstr>
      <vt:lpstr>Example: Harmonic oscillator</vt:lpstr>
      <vt:lpstr>Example: LC Circuit</vt:lpstr>
      <vt:lpstr>Example: Harmonic oscillator</vt:lpstr>
      <vt:lpstr>Choose Question</vt:lpstr>
      <vt:lpstr>Ground-state problem</vt:lpstr>
      <vt:lpstr>Method: Adiabatic approach</vt:lpstr>
      <vt:lpstr>PowerPoint Presentation</vt:lpstr>
      <vt:lpstr>Example: Ising model</vt:lpstr>
      <vt:lpstr>Example: Ising model</vt:lpstr>
      <vt:lpstr>Adiabatic computation for Ising model</vt:lpstr>
      <vt:lpstr>Qiskit implementation for Ising model</vt:lpstr>
      <vt:lpstr>Challenges</vt:lpstr>
      <vt:lpstr>Qiskit implementation for Ising model</vt:lpstr>
      <vt:lpstr>Complexity</vt:lpstr>
      <vt:lpstr>سئوال پژوهشی</vt:lpstr>
      <vt:lpstr>PowerPoint Presentation</vt:lpstr>
      <vt:lpstr>BACKUP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 Sh</dc:creator>
  <cp:lastModifiedBy>Ahmad Sh</cp:lastModifiedBy>
  <cp:revision>22</cp:revision>
  <dcterms:created xsi:type="dcterms:W3CDTF">2026-10-05T08:39:26Z</dcterms:created>
  <dcterms:modified xsi:type="dcterms:W3CDTF">2026-10-26T12:21:04Z</dcterms:modified>
</cp:coreProperties>
</file>